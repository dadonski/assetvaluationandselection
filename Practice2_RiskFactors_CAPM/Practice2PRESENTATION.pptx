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p:regular r:id="rId19"/>
      <p:bold r:id="rId20"/>
      <p:italic r:id="rId21"/>
      <p:boldItalic r:id="rId22"/>
    </p:embeddedFon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6f9e470d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6f9e470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6f9e470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6f9e470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05ed76d8c2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05ed76d8c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05ed76d8c2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05ed76d8c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05ed76d8c2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05ed76d8c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5ed76d8c2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5ed76d8c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05ed76d8c2_0_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05ed76d8c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c6f9e470d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5ed76d8c2_0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05ed76d8c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05ed76d8c2_0_8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05ed76d8c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5ed76d8c2_0_9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5ed76d8c2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15300" y="1081099"/>
            <a:ext cx="8222100" cy="260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Risk factors: </a:t>
            </a:r>
            <a:br>
              <a:rPr lang="es"/>
            </a:br>
            <a:r>
              <a:rPr lang="es"/>
              <a:t>the case of CEI, the effect on </a:t>
            </a:r>
            <a:r>
              <a:rPr lang="es"/>
              <a:t>expected</a:t>
            </a:r>
            <a:r>
              <a:rPr lang="es"/>
              <a:t> returns and its relationship with Market factor</a:t>
            </a:r>
            <a:endParaRPr/>
          </a:p>
        </p:txBody>
      </p:sp>
      <p:sp>
        <p:nvSpPr>
          <p:cNvPr id="86" name="Google Shape;86;p13"/>
          <p:cNvSpPr txBox="1"/>
          <p:nvPr>
            <p:ph idx="1" type="subTitle"/>
          </p:nvPr>
        </p:nvSpPr>
        <p:spPr>
          <a:xfrm>
            <a:off x="432500" y="4239925"/>
            <a:ext cx="8387700" cy="90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Edoardo Anfelli</a:t>
            </a:r>
            <a:endParaRPr/>
          </a:p>
          <a:p>
            <a:pPr indent="0" lvl="0" marL="0" rtl="0" algn="l">
              <a:spcBef>
                <a:spcPts val="0"/>
              </a:spcBef>
              <a:spcAft>
                <a:spcPts val="0"/>
              </a:spcAft>
              <a:buNone/>
            </a:pPr>
            <a:r>
              <a:rPr lang="es"/>
              <a:t>Thaddeus Da Silva Correa</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Summary of topics</a:t>
            </a:r>
            <a:endParaRPr/>
          </a:p>
        </p:txBody>
      </p:sp>
      <p:sp>
        <p:nvSpPr>
          <p:cNvPr id="92" name="Google Shape;92;p14"/>
          <p:cNvSpPr txBox="1"/>
          <p:nvPr/>
        </p:nvSpPr>
        <p:spPr>
          <a:xfrm>
            <a:off x="1088850" y="1375675"/>
            <a:ext cx="6966300" cy="3252000"/>
          </a:xfrm>
          <a:prstGeom prst="rect">
            <a:avLst/>
          </a:prstGeom>
          <a:noFill/>
          <a:ln>
            <a:noFill/>
          </a:ln>
        </p:spPr>
        <p:txBody>
          <a:bodyPr anchorCtr="0" anchor="t" bIns="91425" lIns="91425" spcFirstLastPara="1" rIns="91425" wrap="square" tIns="91425">
            <a:noAutofit/>
          </a:bodyPr>
          <a:lstStyle/>
          <a:p>
            <a:pPr indent="-320675" lvl="0" marL="457200" rtl="0" algn="l">
              <a:lnSpc>
                <a:spcPct val="115000"/>
              </a:lnSpc>
              <a:spcBef>
                <a:spcPts val="0"/>
              </a:spcBef>
              <a:spcAft>
                <a:spcPts val="0"/>
              </a:spcAft>
              <a:buClr>
                <a:srgbClr val="0E0E0E"/>
              </a:buClr>
              <a:buSzPts val="1450"/>
              <a:buChar char="●"/>
            </a:pPr>
            <a:r>
              <a:rPr b="1" lang="es" sz="1450">
                <a:solidFill>
                  <a:srgbClr val="0E0E0E"/>
                </a:solidFill>
              </a:rPr>
              <a:t>Statistical Significance and Fit of the Regression Model on Excess Returns &amp; Residuals Analysis</a:t>
            </a:r>
            <a:endParaRPr b="1" sz="1450">
              <a:solidFill>
                <a:srgbClr val="0E0E0E"/>
              </a:solidFill>
            </a:endParaRPr>
          </a:p>
          <a:p>
            <a:pPr indent="0" lvl="0" marL="0" rtl="0" algn="l">
              <a:lnSpc>
                <a:spcPct val="115000"/>
              </a:lnSpc>
              <a:spcBef>
                <a:spcPts val="0"/>
              </a:spcBef>
              <a:spcAft>
                <a:spcPts val="0"/>
              </a:spcAft>
              <a:buNone/>
            </a:pPr>
            <a:r>
              <a:t/>
            </a:r>
            <a:endParaRPr b="1" sz="1450">
              <a:solidFill>
                <a:srgbClr val="0E0E0E"/>
              </a:solidFill>
            </a:endParaRPr>
          </a:p>
          <a:p>
            <a:pPr indent="-320675" lvl="0" marL="457200" rtl="0" algn="l">
              <a:lnSpc>
                <a:spcPct val="115000"/>
              </a:lnSpc>
              <a:spcBef>
                <a:spcPts val="0"/>
              </a:spcBef>
              <a:spcAft>
                <a:spcPts val="0"/>
              </a:spcAft>
              <a:buClr>
                <a:srgbClr val="0E0E0E"/>
              </a:buClr>
              <a:buSzPts val="1450"/>
              <a:buChar char="●"/>
            </a:pPr>
            <a:r>
              <a:rPr b="1" lang="es" sz="1450">
                <a:solidFill>
                  <a:srgbClr val="0E0E0E"/>
                </a:solidFill>
              </a:rPr>
              <a:t>Significance of the CEI Risk Premium</a:t>
            </a:r>
            <a:endParaRPr b="1" sz="1450">
              <a:solidFill>
                <a:srgbClr val="0E0E0E"/>
              </a:solidFill>
            </a:endParaRPr>
          </a:p>
          <a:p>
            <a:pPr indent="0" lvl="0" marL="0" rtl="0" algn="l">
              <a:lnSpc>
                <a:spcPct val="115000"/>
              </a:lnSpc>
              <a:spcBef>
                <a:spcPts val="0"/>
              </a:spcBef>
              <a:spcAft>
                <a:spcPts val="0"/>
              </a:spcAft>
              <a:buNone/>
            </a:pPr>
            <a:r>
              <a:t/>
            </a:r>
            <a:endParaRPr b="1" sz="1450">
              <a:solidFill>
                <a:srgbClr val="0E0E0E"/>
              </a:solidFill>
            </a:endParaRPr>
          </a:p>
          <a:p>
            <a:pPr indent="-320675" lvl="0" marL="457200" rtl="0" algn="l">
              <a:lnSpc>
                <a:spcPct val="115000"/>
              </a:lnSpc>
              <a:spcBef>
                <a:spcPts val="0"/>
              </a:spcBef>
              <a:spcAft>
                <a:spcPts val="0"/>
              </a:spcAft>
              <a:buClr>
                <a:srgbClr val="0E0E0E"/>
              </a:buClr>
              <a:buSzPts val="1450"/>
              <a:buChar char="●"/>
            </a:pPr>
            <a:r>
              <a:rPr b="1" lang="es" sz="1450">
                <a:solidFill>
                  <a:srgbClr val="0E0E0E"/>
                </a:solidFill>
              </a:rPr>
              <a:t>Expected Yearly Excess Return for AAA, BBB, CCC, and our suggested Portfolios (5 examples)</a:t>
            </a:r>
            <a:endParaRPr b="1" sz="1450">
              <a:solidFill>
                <a:srgbClr val="0E0E0E"/>
              </a:solidFill>
            </a:endParaRPr>
          </a:p>
          <a:p>
            <a:pPr indent="0" lvl="0" marL="0" rtl="0" algn="l">
              <a:lnSpc>
                <a:spcPct val="115000"/>
              </a:lnSpc>
              <a:spcBef>
                <a:spcPts val="0"/>
              </a:spcBef>
              <a:spcAft>
                <a:spcPts val="0"/>
              </a:spcAft>
              <a:buNone/>
            </a:pPr>
            <a:r>
              <a:t/>
            </a:r>
            <a:endParaRPr b="1" sz="1450">
              <a:solidFill>
                <a:srgbClr val="0E0E0E"/>
              </a:solidFill>
            </a:endParaRPr>
          </a:p>
          <a:p>
            <a:pPr indent="-320675" lvl="0" marL="457200" rtl="0" algn="l">
              <a:lnSpc>
                <a:spcPct val="115000"/>
              </a:lnSpc>
              <a:spcBef>
                <a:spcPts val="0"/>
              </a:spcBef>
              <a:spcAft>
                <a:spcPts val="0"/>
              </a:spcAft>
              <a:buClr>
                <a:srgbClr val="0E0E0E"/>
              </a:buClr>
              <a:buSzPts val="1450"/>
              <a:buChar char="●"/>
            </a:pPr>
            <a:r>
              <a:rPr b="1" lang="es" sz="1450">
                <a:solidFill>
                  <a:srgbClr val="0E0E0E"/>
                </a:solidFill>
              </a:rPr>
              <a:t>Adjusting CEI Risk Premium for Market Risk: Is It Biased?</a:t>
            </a:r>
            <a:endParaRPr b="1" sz="1450">
              <a:solidFill>
                <a:srgbClr val="0E0E0E"/>
              </a:solidFill>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27600" y="410000"/>
            <a:ext cx="9088800" cy="607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500">
                <a:solidFill>
                  <a:srgbClr val="0E0E0E"/>
                </a:solidFill>
                <a:latin typeface="Arial"/>
                <a:ea typeface="Arial"/>
                <a:cs typeface="Arial"/>
                <a:sym typeface="Arial"/>
              </a:rPr>
              <a:t>Statistical Significance and Fit of the Regression Model on Excess Returns &amp; Residuals Analysis</a:t>
            </a:r>
            <a:endParaRPr b="1" sz="1500">
              <a:solidFill>
                <a:srgbClr val="0E0E0E"/>
              </a:solidFill>
              <a:latin typeface="Arial"/>
              <a:ea typeface="Arial"/>
              <a:cs typeface="Arial"/>
              <a:sym typeface="Arial"/>
            </a:endParaRPr>
          </a:p>
          <a:p>
            <a:pPr indent="0" lvl="0" marL="0" rtl="0" algn="l">
              <a:spcBef>
                <a:spcPts val="0"/>
              </a:spcBef>
              <a:spcAft>
                <a:spcPts val="0"/>
              </a:spcAft>
              <a:buNone/>
            </a:pPr>
            <a:r>
              <a:t/>
            </a:r>
            <a:endParaRPr/>
          </a:p>
        </p:txBody>
      </p:sp>
      <p:pic>
        <p:nvPicPr>
          <p:cNvPr id="98" name="Google Shape;98;p15"/>
          <p:cNvPicPr preferRelativeResize="0"/>
          <p:nvPr/>
        </p:nvPicPr>
        <p:blipFill>
          <a:blip r:embed="rId3">
            <a:alphaModFix/>
          </a:blip>
          <a:stretch>
            <a:fillRect/>
          </a:stretch>
        </p:blipFill>
        <p:spPr>
          <a:xfrm>
            <a:off x="4779025" y="913525"/>
            <a:ext cx="4364974" cy="3810950"/>
          </a:xfrm>
          <a:prstGeom prst="rect">
            <a:avLst/>
          </a:prstGeom>
          <a:noFill/>
          <a:ln>
            <a:noFill/>
          </a:ln>
        </p:spPr>
      </p:pic>
      <p:pic>
        <p:nvPicPr>
          <p:cNvPr id="99" name="Google Shape;99;p15"/>
          <p:cNvPicPr preferRelativeResize="0"/>
          <p:nvPr/>
        </p:nvPicPr>
        <p:blipFill>
          <a:blip r:embed="rId4">
            <a:alphaModFix/>
          </a:blip>
          <a:stretch>
            <a:fillRect/>
          </a:stretch>
        </p:blipFill>
        <p:spPr>
          <a:xfrm>
            <a:off x="241225" y="1017800"/>
            <a:ext cx="4537800" cy="1553950"/>
          </a:xfrm>
          <a:prstGeom prst="rect">
            <a:avLst/>
          </a:prstGeom>
          <a:noFill/>
          <a:ln>
            <a:noFill/>
          </a:ln>
        </p:spPr>
      </p:pic>
      <p:sp>
        <p:nvSpPr>
          <p:cNvPr id="100" name="Google Shape;100;p15"/>
          <p:cNvSpPr txBox="1"/>
          <p:nvPr/>
        </p:nvSpPr>
        <p:spPr>
          <a:xfrm>
            <a:off x="409075" y="2646525"/>
            <a:ext cx="4202100" cy="195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400"/>
              </a:spcBef>
              <a:spcAft>
                <a:spcPts val="0"/>
              </a:spcAft>
              <a:buNone/>
            </a:pPr>
            <a:r>
              <a:rPr b="1" lang="es" sz="650">
                <a:solidFill>
                  <a:srgbClr val="212121"/>
                </a:solidFill>
              </a:rPr>
              <a:t>Significance of Regressors</a:t>
            </a:r>
            <a:r>
              <a:rPr lang="es" sz="650">
                <a:solidFill>
                  <a:srgbClr val="212121"/>
                </a:solidFill>
              </a:rPr>
              <a:t>:</a:t>
            </a:r>
            <a:endParaRPr sz="650">
              <a:solidFill>
                <a:srgbClr val="212121"/>
              </a:solidFill>
            </a:endParaRPr>
          </a:p>
          <a:p>
            <a:pPr indent="-269875" lvl="1" marL="914400" rtl="0" algn="l">
              <a:lnSpc>
                <a:spcPct val="150000"/>
              </a:lnSpc>
              <a:spcBef>
                <a:spcPts val="1200"/>
              </a:spcBef>
              <a:spcAft>
                <a:spcPts val="0"/>
              </a:spcAft>
              <a:buClr>
                <a:srgbClr val="212121"/>
              </a:buClr>
              <a:buSzPts val="650"/>
              <a:buChar char="○"/>
            </a:pPr>
            <a:r>
              <a:rPr lang="es" sz="650">
                <a:solidFill>
                  <a:srgbClr val="212121"/>
                </a:solidFill>
              </a:rPr>
              <a:t>The independent variable </a:t>
            </a:r>
            <a:r>
              <a:rPr b="1" lang="es" sz="650">
                <a:solidFill>
                  <a:srgbClr val="188038"/>
                </a:solidFill>
                <a:latin typeface="Roboto Mono"/>
                <a:ea typeface="Roboto Mono"/>
                <a:cs typeface="Roboto Mono"/>
                <a:sym typeface="Roboto Mono"/>
              </a:rPr>
              <a:t>CEI_134</a:t>
            </a:r>
            <a:r>
              <a:rPr b="1" lang="es" sz="650">
                <a:solidFill>
                  <a:srgbClr val="212121"/>
                </a:solidFill>
              </a:rPr>
              <a:t> is statistically significant</a:t>
            </a:r>
            <a:r>
              <a:rPr lang="es" sz="650">
                <a:solidFill>
                  <a:srgbClr val="212121"/>
                </a:solidFill>
              </a:rPr>
              <a:t> (p-value = 0.0005), meaning it has a meaningful impact on the dependent variable </a:t>
            </a:r>
            <a:r>
              <a:rPr lang="es" sz="650">
                <a:solidFill>
                  <a:srgbClr val="188038"/>
                </a:solidFill>
                <a:latin typeface="Roboto Mono"/>
                <a:ea typeface="Roboto Mono"/>
                <a:cs typeface="Roboto Mono"/>
                <a:sym typeface="Roboto Mono"/>
              </a:rPr>
              <a:t>ExcessreturnAsset_134</a:t>
            </a:r>
            <a:r>
              <a:rPr lang="es" sz="650">
                <a:solidFill>
                  <a:srgbClr val="212121"/>
                </a:solidFill>
              </a:rPr>
              <a:t>.</a:t>
            </a:r>
            <a:endParaRPr sz="650">
              <a:solidFill>
                <a:srgbClr val="212121"/>
              </a:solidFill>
            </a:endParaRPr>
          </a:p>
          <a:p>
            <a:pPr indent="-269875" lvl="1" marL="914400" rtl="0" algn="l">
              <a:lnSpc>
                <a:spcPct val="150000"/>
              </a:lnSpc>
              <a:spcBef>
                <a:spcPts val="0"/>
              </a:spcBef>
              <a:spcAft>
                <a:spcPts val="0"/>
              </a:spcAft>
              <a:buClr>
                <a:srgbClr val="212121"/>
              </a:buClr>
              <a:buSzPts val="650"/>
              <a:buChar char="○"/>
            </a:pPr>
            <a:r>
              <a:rPr lang="es" sz="650">
                <a:solidFill>
                  <a:srgbClr val="212121"/>
                </a:solidFill>
              </a:rPr>
              <a:t>The </a:t>
            </a:r>
            <a:r>
              <a:rPr b="1" lang="es" sz="650">
                <a:solidFill>
                  <a:srgbClr val="212121"/>
                </a:solidFill>
              </a:rPr>
              <a:t>intercept is not significant</a:t>
            </a:r>
            <a:r>
              <a:rPr lang="es" sz="650">
                <a:solidFill>
                  <a:srgbClr val="212121"/>
                </a:solidFill>
              </a:rPr>
              <a:t>, which is not unusual.</a:t>
            </a:r>
            <a:endParaRPr sz="650">
              <a:solidFill>
                <a:srgbClr val="212121"/>
              </a:solidFill>
            </a:endParaRPr>
          </a:p>
          <a:p>
            <a:pPr indent="0" lvl="0" marL="0" rtl="0" algn="l">
              <a:lnSpc>
                <a:spcPct val="150000"/>
              </a:lnSpc>
              <a:spcBef>
                <a:spcPts val="1200"/>
              </a:spcBef>
              <a:spcAft>
                <a:spcPts val="0"/>
              </a:spcAft>
              <a:buNone/>
            </a:pPr>
            <a:r>
              <a:rPr b="1" lang="es" sz="650">
                <a:solidFill>
                  <a:srgbClr val="212121"/>
                </a:solidFill>
              </a:rPr>
              <a:t>Regression Fit</a:t>
            </a:r>
            <a:r>
              <a:rPr lang="es" sz="650">
                <a:solidFill>
                  <a:srgbClr val="212121"/>
                </a:solidFill>
              </a:rPr>
              <a:t>:</a:t>
            </a:r>
            <a:endParaRPr sz="650">
              <a:solidFill>
                <a:srgbClr val="212121"/>
              </a:solidFill>
            </a:endParaRPr>
          </a:p>
          <a:p>
            <a:pPr indent="-269875" lvl="1" marL="914400" rtl="0" algn="l">
              <a:lnSpc>
                <a:spcPct val="150000"/>
              </a:lnSpc>
              <a:spcBef>
                <a:spcPts val="1200"/>
              </a:spcBef>
              <a:spcAft>
                <a:spcPts val="0"/>
              </a:spcAft>
              <a:buClr>
                <a:srgbClr val="212121"/>
              </a:buClr>
              <a:buSzPts val="650"/>
              <a:buChar char="○"/>
            </a:pPr>
            <a:r>
              <a:rPr lang="es" sz="650">
                <a:solidFill>
                  <a:srgbClr val="212121"/>
                </a:solidFill>
              </a:rPr>
              <a:t>The </a:t>
            </a:r>
            <a:r>
              <a:rPr b="1" lang="es" sz="650">
                <a:solidFill>
                  <a:srgbClr val="212121"/>
                </a:solidFill>
              </a:rPr>
              <a:t>R-squared (0.158)</a:t>
            </a:r>
            <a:r>
              <a:rPr lang="es" sz="650">
                <a:solidFill>
                  <a:srgbClr val="212121"/>
                </a:solidFill>
              </a:rPr>
              <a:t> indicates that the model explains only </a:t>
            </a:r>
            <a:r>
              <a:rPr b="1" lang="es" sz="650">
                <a:solidFill>
                  <a:srgbClr val="212121"/>
                </a:solidFill>
              </a:rPr>
              <a:t>15.8% of the variation</a:t>
            </a:r>
            <a:r>
              <a:rPr lang="es" sz="650">
                <a:solidFill>
                  <a:srgbClr val="212121"/>
                </a:solidFill>
              </a:rPr>
              <a:t> in the excess return of the asset, suggesting a </a:t>
            </a:r>
            <a:r>
              <a:rPr b="1" lang="es" sz="650">
                <a:solidFill>
                  <a:srgbClr val="212121"/>
                </a:solidFill>
              </a:rPr>
              <a:t>low fit</a:t>
            </a:r>
            <a:r>
              <a:rPr lang="es" sz="650">
                <a:solidFill>
                  <a:srgbClr val="212121"/>
                </a:solidFill>
              </a:rPr>
              <a:t>.</a:t>
            </a:r>
            <a:endParaRPr sz="650">
              <a:solidFill>
                <a:srgbClr val="212121"/>
              </a:solidFill>
            </a:endParaRPr>
          </a:p>
          <a:p>
            <a:pPr indent="-269875" lvl="1" marL="914400" rtl="0" algn="l">
              <a:lnSpc>
                <a:spcPct val="150000"/>
              </a:lnSpc>
              <a:spcBef>
                <a:spcPts val="0"/>
              </a:spcBef>
              <a:spcAft>
                <a:spcPts val="0"/>
              </a:spcAft>
              <a:buClr>
                <a:srgbClr val="212121"/>
              </a:buClr>
              <a:buSzPts val="650"/>
              <a:buChar char="○"/>
            </a:pPr>
            <a:r>
              <a:rPr lang="es" sz="650">
                <a:solidFill>
                  <a:srgbClr val="212121"/>
                </a:solidFill>
              </a:rPr>
              <a:t>The </a:t>
            </a:r>
            <a:r>
              <a:rPr b="1" lang="es" sz="650">
                <a:solidFill>
                  <a:srgbClr val="212121"/>
                </a:solidFill>
              </a:rPr>
              <a:t>Adjusted R-squared (0.146)</a:t>
            </a:r>
            <a:r>
              <a:rPr lang="es" sz="650">
                <a:solidFill>
                  <a:srgbClr val="212121"/>
                </a:solidFill>
              </a:rPr>
              <a:t> confirms that the overall model fit is still weak even after accounting for model complexity.</a:t>
            </a:r>
            <a:endParaRPr sz="650">
              <a:solidFill>
                <a:srgbClr val="212121"/>
              </a:solidFill>
            </a:endParaRPr>
          </a:p>
          <a:p>
            <a:pPr indent="-269875" lvl="1" marL="914400" rtl="0" algn="l">
              <a:lnSpc>
                <a:spcPct val="150000"/>
              </a:lnSpc>
              <a:spcBef>
                <a:spcPts val="0"/>
              </a:spcBef>
              <a:spcAft>
                <a:spcPts val="0"/>
              </a:spcAft>
              <a:buClr>
                <a:srgbClr val="212121"/>
              </a:buClr>
              <a:buSzPts val="650"/>
              <a:buChar char="○"/>
            </a:pPr>
            <a:r>
              <a:rPr lang="es" sz="650">
                <a:solidFill>
                  <a:srgbClr val="212121"/>
                </a:solidFill>
              </a:rPr>
              <a:t>The </a:t>
            </a:r>
            <a:r>
              <a:rPr b="1" lang="es" sz="650">
                <a:solidFill>
                  <a:srgbClr val="212121"/>
                </a:solidFill>
              </a:rPr>
              <a:t>RMSE (0.994)</a:t>
            </a:r>
            <a:r>
              <a:rPr lang="es" sz="650">
                <a:solidFill>
                  <a:srgbClr val="212121"/>
                </a:solidFill>
              </a:rPr>
              <a:t> shows that the model's predictions have relatively large errors, indicating the model does not predict the excess return very precisely.</a:t>
            </a:r>
            <a:endParaRPr sz="350">
              <a:solidFill>
                <a:srgbClr val="21212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265500" y="126175"/>
            <a:ext cx="4045200" cy="71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Residuals</a:t>
            </a:r>
            <a:endParaRPr/>
          </a:p>
        </p:txBody>
      </p:sp>
      <p:sp>
        <p:nvSpPr>
          <p:cNvPr id="106" name="Google Shape;106;p16"/>
          <p:cNvSpPr txBox="1"/>
          <p:nvPr>
            <p:ph idx="1" type="subTitle"/>
          </p:nvPr>
        </p:nvSpPr>
        <p:spPr>
          <a:xfrm>
            <a:off x="265500" y="793725"/>
            <a:ext cx="4045200" cy="4349700"/>
          </a:xfrm>
          <a:prstGeom prst="rect">
            <a:avLst/>
          </a:prstGeom>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b="1" lang="es" sz="1400">
                <a:latin typeface="Arial"/>
                <a:ea typeface="Arial"/>
                <a:cs typeface="Arial"/>
                <a:sym typeface="Arial"/>
              </a:rPr>
              <a:t>Heteroskedasticity</a:t>
            </a:r>
            <a:endParaRPr b="1" sz="1400">
              <a:latin typeface="Arial"/>
              <a:ea typeface="Arial"/>
              <a:cs typeface="Arial"/>
              <a:sym typeface="Arial"/>
            </a:endParaRPr>
          </a:p>
          <a:p>
            <a:pPr indent="0" lvl="0" marL="0" rtl="0" algn="l">
              <a:lnSpc>
                <a:spcPct val="115000"/>
              </a:lnSpc>
              <a:spcBef>
                <a:spcPts val="400"/>
              </a:spcBef>
              <a:spcAft>
                <a:spcPts val="0"/>
              </a:spcAft>
              <a:buNone/>
            </a:pPr>
            <a:r>
              <a:rPr b="1" lang="es" sz="1100">
                <a:solidFill>
                  <a:srgbClr val="000000"/>
                </a:solidFill>
                <a:latin typeface="Arial"/>
                <a:ea typeface="Arial"/>
                <a:cs typeface="Arial"/>
                <a:sym typeface="Arial"/>
              </a:rPr>
              <a:t>Breusch-Pagan Test Statistic of 0.30982</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s" sz="1100">
                <a:solidFill>
                  <a:srgbClr val="000000"/>
                </a:solidFill>
                <a:latin typeface="Arial"/>
                <a:ea typeface="Arial"/>
                <a:cs typeface="Arial"/>
                <a:sym typeface="Arial"/>
              </a:rPr>
              <a:t>p-value of 0.57779</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s" sz="1100">
                <a:solidFill>
                  <a:srgbClr val="000000"/>
                </a:solidFill>
                <a:latin typeface="Arial"/>
                <a:ea typeface="Arial"/>
                <a:cs typeface="Arial"/>
                <a:sym typeface="Arial"/>
              </a:rPr>
              <a:t>Our model does not show signs of heteroscedasticity, as the p-value is high, and the Breusch-Pagan test statistic is low. This implies that the assumption of homoscedasticity (constant variance of the residuals) holds, which is ideal for the validity of the regression model’s results.</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s" sz="1100">
                <a:solidFill>
                  <a:srgbClr val="000000"/>
                </a:solidFill>
                <a:latin typeface="Arial"/>
                <a:ea typeface="Arial"/>
                <a:cs typeface="Arial"/>
                <a:sym typeface="Arial"/>
              </a:rPr>
              <a:t>In summary:</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s" sz="1100">
                <a:solidFill>
                  <a:srgbClr val="000000"/>
                </a:solidFill>
                <a:latin typeface="Arial"/>
                <a:ea typeface="Arial"/>
                <a:cs typeface="Arial"/>
                <a:sym typeface="Arial"/>
              </a:rPr>
              <a:t>The model’s residuals are likely homoscedastic, meaning their variance is constant and does not systematically change with the values of the independent variables.</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s" sz="1100">
                <a:solidFill>
                  <a:srgbClr val="000000"/>
                </a:solidFill>
                <a:latin typeface="Arial"/>
                <a:ea typeface="Arial"/>
                <a:cs typeface="Arial"/>
                <a:sym typeface="Arial"/>
              </a:rPr>
              <a:t>We can proceed confidently with the results of your regression analysis without worrying about heteroscedasticity affecting your conclusions.</a:t>
            </a:r>
            <a:endParaRPr b="1" sz="1400">
              <a:latin typeface="Arial"/>
              <a:ea typeface="Arial"/>
              <a:cs typeface="Arial"/>
              <a:sym typeface="Arial"/>
            </a:endParaRPr>
          </a:p>
        </p:txBody>
      </p:sp>
      <p:pic>
        <p:nvPicPr>
          <p:cNvPr id="107" name="Google Shape;107;p16"/>
          <p:cNvPicPr preferRelativeResize="0"/>
          <p:nvPr/>
        </p:nvPicPr>
        <p:blipFill>
          <a:blip r:embed="rId3">
            <a:alphaModFix/>
          </a:blip>
          <a:stretch>
            <a:fillRect/>
          </a:stretch>
        </p:blipFill>
        <p:spPr>
          <a:xfrm>
            <a:off x="4572000" y="718163"/>
            <a:ext cx="4538125" cy="3707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265500" y="126175"/>
            <a:ext cx="4045200" cy="71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Residuals</a:t>
            </a:r>
            <a:endParaRPr/>
          </a:p>
        </p:txBody>
      </p:sp>
      <p:sp>
        <p:nvSpPr>
          <p:cNvPr id="113" name="Google Shape;113;p17"/>
          <p:cNvSpPr txBox="1"/>
          <p:nvPr>
            <p:ph idx="1" type="subTitle"/>
          </p:nvPr>
        </p:nvSpPr>
        <p:spPr>
          <a:xfrm>
            <a:off x="265500" y="691250"/>
            <a:ext cx="4045200" cy="4452300"/>
          </a:xfrm>
          <a:prstGeom prst="rect">
            <a:avLst/>
          </a:prstGeom>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b="1" lang="es" sz="1200">
                <a:latin typeface="Arial"/>
                <a:ea typeface="Arial"/>
                <a:cs typeface="Arial"/>
                <a:sym typeface="Arial"/>
              </a:rPr>
              <a:t>Normality</a:t>
            </a:r>
            <a:endParaRPr b="1" sz="1200">
              <a:latin typeface="Arial"/>
              <a:ea typeface="Arial"/>
              <a:cs typeface="Arial"/>
              <a:sym typeface="Arial"/>
            </a:endParaRPr>
          </a:p>
          <a:p>
            <a:pPr indent="0" lvl="0" marL="0" rtl="0" algn="l">
              <a:lnSpc>
                <a:spcPct val="115000"/>
              </a:lnSpc>
              <a:spcBef>
                <a:spcPts val="1400"/>
              </a:spcBef>
              <a:spcAft>
                <a:spcPts val="0"/>
              </a:spcAft>
              <a:buNone/>
            </a:pPr>
            <a:r>
              <a:rPr lang="es" sz="1000">
                <a:solidFill>
                  <a:srgbClr val="666666"/>
                </a:solidFill>
                <a:latin typeface="Arial"/>
                <a:ea typeface="Arial"/>
                <a:cs typeface="Arial"/>
                <a:sym typeface="Arial"/>
              </a:rPr>
              <a:t>QQ Plot</a:t>
            </a:r>
            <a:endParaRPr sz="1000">
              <a:solidFill>
                <a:srgbClr val="666666"/>
              </a:solidFill>
              <a:latin typeface="Arial"/>
              <a:ea typeface="Arial"/>
              <a:cs typeface="Arial"/>
              <a:sym typeface="Arial"/>
            </a:endParaRPr>
          </a:p>
          <a:p>
            <a:pPr indent="0" lvl="0" marL="0" rtl="0" algn="l">
              <a:lnSpc>
                <a:spcPct val="115000"/>
              </a:lnSpc>
              <a:spcBef>
                <a:spcPts val="400"/>
              </a:spcBef>
              <a:spcAft>
                <a:spcPts val="0"/>
              </a:spcAft>
              <a:buNone/>
            </a:pPr>
            <a:r>
              <a:rPr lang="es" sz="900">
                <a:solidFill>
                  <a:srgbClr val="000000"/>
                </a:solidFill>
                <a:latin typeface="Arial"/>
                <a:ea typeface="Arial"/>
                <a:cs typeface="Arial"/>
                <a:sym typeface="Arial"/>
              </a:rPr>
              <a:t>The closer the points are to the line, the more they are distributed as Normal, in this case, they are really close to.</a:t>
            </a:r>
            <a:endParaRPr b="1" sz="9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lang="es" sz="1000">
                <a:solidFill>
                  <a:srgbClr val="666666"/>
                </a:solidFill>
                <a:latin typeface="Arial"/>
                <a:ea typeface="Arial"/>
                <a:cs typeface="Arial"/>
                <a:sym typeface="Arial"/>
              </a:rPr>
              <a:t>JB Test</a:t>
            </a:r>
            <a:endParaRPr sz="1000">
              <a:solidFill>
                <a:srgbClr val="666666"/>
              </a:solidFill>
              <a:latin typeface="Arial"/>
              <a:ea typeface="Arial"/>
              <a:cs typeface="Arial"/>
              <a:sym typeface="Arial"/>
            </a:endParaRPr>
          </a:p>
          <a:p>
            <a:pPr indent="0" lvl="0" marL="0" rtl="0" algn="l">
              <a:lnSpc>
                <a:spcPct val="115000"/>
              </a:lnSpc>
              <a:spcBef>
                <a:spcPts val="400"/>
              </a:spcBef>
              <a:spcAft>
                <a:spcPts val="0"/>
              </a:spcAft>
              <a:buNone/>
            </a:pPr>
            <a:r>
              <a:rPr b="1" lang="es" sz="900">
                <a:solidFill>
                  <a:srgbClr val="000000"/>
                </a:solidFill>
                <a:latin typeface="Arial"/>
                <a:ea typeface="Arial"/>
                <a:cs typeface="Arial"/>
                <a:sym typeface="Arial"/>
              </a:rPr>
              <a:t>High p-value:</a:t>
            </a:r>
            <a:endParaRPr b="1"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s" sz="900">
                <a:solidFill>
                  <a:srgbClr val="000000"/>
                </a:solidFill>
                <a:latin typeface="Arial"/>
                <a:ea typeface="Arial"/>
                <a:cs typeface="Arial"/>
                <a:sym typeface="Arial"/>
              </a:rPr>
              <a:t>A p-value of 0.5 or higher indicates that the residuals do not deviate significantly from a normal distribution.</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s" sz="900">
                <a:solidFill>
                  <a:srgbClr val="000000"/>
                </a:solidFill>
                <a:latin typeface="Arial"/>
                <a:ea typeface="Arial"/>
                <a:cs typeface="Arial"/>
                <a:sym typeface="Arial"/>
              </a:rPr>
              <a:t>he null hypothesis of the JB test is that the residuals are normally distributed. Since the p-value is large, you fail to reject the null hypothesis, meaning the residuals </a:t>
            </a:r>
            <a:r>
              <a:rPr b="1" lang="es" sz="900">
                <a:solidFill>
                  <a:srgbClr val="000000"/>
                </a:solidFill>
                <a:latin typeface="Arial"/>
                <a:ea typeface="Arial"/>
                <a:cs typeface="Arial"/>
                <a:sym typeface="Arial"/>
              </a:rPr>
              <a:t>likely follow a normal distribution</a:t>
            </a:r>
            <a:r>
              <a:rPr lang="e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lang="es" sz="1000">
                <a:solidFill>
                  <a:srgbClr val="666666"/>
                </a:solidFill>
                <a:latin typeface="Arial"/>
                <a:ea typeface="Arial"/>
                <a:cs typeface="Arial"/>
                <a:sym typeface="Arial"/>
              </a:rPr>
              <a:t>K-S Test</a:t>
            </a:r>
            <a:endParaRPr sz="1000">
              <a:solidFill>
                <a:srgbClr val="666666"/>
              </a:solidFill>
              <a:latin typeface="Arial"/>
              <a:ea typeface="Arial"/>
              <a:cs typeface="Arial"/>
              <a:sym typeface="Arial"/>
            </a:endParaRPr>
          </a:p>
          <a:p>
            <a:pPr indent="0" lvl="0" marL="0" rtl="0" algn="l">
              <a:lnSpc>
                <a:spcPct val="115000"/>
              </a:lnSpc>
              <a:spcBef>
                <a:spcPts val="400"/>
              </a:spcBef>
              <a:spcAft>
                <a:spcPts val="0"/>
              </a:spcAft>
              <a:buNone/>
            </a:pPr>
            <a:r>
              <a:rPr lang="es" sz="900">
                <a:solidFill>
                  <a:srgbClr val="000000"/>
                </a:solidFill>
                <a:latin typeface="Arial"/>
                <a:ea typeface="Arial"/>
                <a:cs typeface="Arial"/>
                <a:sym typeface="Arial"/>
              </a:rPr>
              <a:t>A high p-value (in our case </a:t>
            </a:r>
            <a:r>
              <a:rPr lang="es" sz="700">
                <a:solidFill>
                  <a:srgbClr val="212121"/>
                </a:solidFill>
                <a:highlight>
                  <a:srgbClr val="FFFFFF"/>
                </a:highlight>
                <a:latin typeface="Courier New"/>
                <a:ea typeface="Courier New"/>
                <a:cs typeface="Courier New"/>
                <a:sym typeface="Courier New"/>
              </a:rPr>
              <a:t>0.98884</a:t>
            </a:r>
            <a:r>
              <a:rPr lang="es" sz="900">
                <a:solidFill>
                  <a:srgbClr val="000000"/>
                </a:solidFill>
                <a:latin typeface="Arial"/>
                <a:ea typeface="Arial"/>
                <a:cs typeface="Arial"/>
                <a:sym typeface="Arial"/>
              </a:rPr>
              <a:t>) means that there is no evidence to reject the null hypothesis, which assumes that the residuals follow a normal distribution.</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s" sz="900">
                <a:solidFill>
                  <a:srgbClr val="000000"/>
                </a:solidFill>
                <a:latin typeface="Arial"/>
                <a:ea typeface="Arial"/>
                <a:cs typeface="Arial"/>
                <a:sym typeface="Arial"/>
              </a:rPr>
              <a:t>In other words, your data are very likely to follow a normal distribution since the K-S test did not find any significant deviation from normality.</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s" sz="900">
                <a:solidFill>
                  <a:srgbClr val="000000"/>
                </a:solidFill>
                <a:latin typeface="Arial"/>
                <a:ea typeface="Arial"/>
                <a:cs typeface="Arial"/>
                <a:sym typeface="Arial"/>
              </a:rPr>
              <a:t>Is a good sign for our model. It suggests that the assumption of normally distributed residuals holds, making our statistical inferences from the model more reliable.</a:t>
            </a:r>
            <a:endParaRPr sz="9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900">
              <a:solidFill>
                <a:srgbClr val="000000"/>
              </a:solidFill>
              <a:latin typeface="Arial"/>
              <a:ea typeface="Arial"/>
              <a:cs typeface="Arial"/>
              <a:sym typeface="Arial"/>
            </a:endParaRPr>
          </a:p>
        </p:txBody>
      </p:sp>
      <p:pic>
        <p:nvPicPr>
          <p:cNvPr id="114" name="Google Shape;114;p17"/>
          <p:cNvPicPr preferRelativeResize="0"/>
          <p:nvPr/>
        </p:nvPicPr>
        <p:blipFill>
          <a:blip r:embed="rId3">
            <a:alphaModFix/>
          </a:blip>
          <a:stretch>
            <a:fillRect/>
          </a:stretch>
        </p:blipFill>
        <p:spPr>
          <a:xfrm>
            <a:off x="4572000" y="0"/>
            <a:ext cx="4571999" cy="2722850"/>
          </a:xfrm>
          <a:prstGeom prst="rect">
            <a:avLst/>
          </a:prstGeom>
          <a:noFill/>
          <a:ln>
            <a:noFill/>
          </a:ln>
        </p:spPr>
      </p:pic>
      <p:pic>
        <p:nvPicPr>
          <p:cNvPr id="115" name="Google Shape;115;p17"/>
          <p:cNvPicPr preferRelativeResize="0"/>
          <p:nvPr/>
        </p:nvPicPr>
        <p:blipFill>
          <a:blip r:embed="rId4">
            <a:alphaModFix/>
          </a:blip>
          <a:stretch>
            <a:fillRect/>
          </a:stretch>
        </p:blipFill>
        <p:spPr>
          <a:xfrm>
            <a:off x="4572000" y="2434550"/>
            <a:ext cx="4572000" cy="2722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265500" y="126175"/>
            <a:ext cx="4045200" cy="71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Residuals</a:t>
            </a:r>
            <a:endParaRPr/>
          </a:p>
        </p:txBody>
      </p:sp>
      <p:sp>
        <p:nvSpPr>
          <p:cNvPr id="121" name="Google Shape;121;p18"/>
          <p:cNvSpPr txBox="1"/>
          <p:nvPr>
            <p:ph idx="1" type="subTitle"/>
          </p:nvPr>
        </p:nvSpPr>
        <p:spPr>
          <a:xfrm>
            <a:off x="265500" y="793725"/>
            <a:ext cx="4045200" cy="4349700"/>
          </a:xfrm>
          <a:prstGeom prst="rect">
            <a:avLst/>
          </a:prstGeom>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b="1" lang="es" sz="1100">
                <a:latin typeface="Arial"/>
                <a:ea typeface="Arial"/>
                <a:cs typeface="Arial"/>
                <a:sym typeface="Arial"/>
              </a:rPr>
              <a:t>Autocorrelation</a:t>
            </a:r>
            <a:endParaRPr b="1" sz="1100">
              <a:latin typeface="Arial"/>
              <a:ea typeface="Arial"/>
              <a:cs typeface="Arial"/>
              <a:sym typeface="Arial"/>
            </a:endParaRPr>
          </a:p>
          <a:p>
            <a:pPr indent="0" lvl="0" marL="0" rtl="0" algn="l">
              <a:lnSpc>
                <a:spcPct val="115000"/>
              </a:lnSpc>
              <a:spcBef>
                <a:spcPts val="1600"/>
              </a:spcBef>
              <a:spcAft>
                <a:spcPts val="0"/>
              </a:spcAft>
              <a:buNone/>
            </a:pPr>
            <a:r>
              <a:t/>
            </a:r>
            <a:endParaRPr b="1" sz="800">
              <a:latin typeface="Arial"/>
              <a:ea typeface="Arial"/>
              <a:cs typeface="Arial"/>
              <a:sym typeface="Arial"/>
            </a:endParaRPr>
          </a:p>
          <a:p>
            <a:pPr indent="-260350" lvl="0" marL="457200" rtl="0" algn="l">
              <a:lnSpc>
                <a:spcPct val="115000"/>
              </a:lnSpc>
              <a:spcBef>
                <a:spcPts val="400"/>
              </a:spcBef>
              <a:spcAft>
                <a:spcPts val="0"/>
              </a:spcAft>
              <a:buClr>
                <a:srgbClr val="000000"/>
              </a:buClr>
              <a:buSzPts val="500"/>
              <a:buFont typeface="Arial"/>
              <a:buChar char="●"/>
            </a:pPr>
            <a:r>
              <a:rPr b="1" lang="es" sz="850">
                <a:solidFill>
                  <a:srgbClr val="0E0E0E"/>
                </a:solidFill>
                <a:latin typeface="Arial"/>
                <a:ea typeface="Arial"/>
                <a:cs typeface="Arial"/>
                <a:sym typeface="Arial"/>
              </a:rPr>
              <a:t>Low mean autocorrelation (0.0196)</a:t>
            </a:r>
            <a:r>
              <a:rPr lang="es" sz="850">
                <a:solidFill>
                  <a:srgbClr val="0E0E0E"/>
                </a:solidFill>
                <a:latin typeface="Arial"/>
                <a:ea typeface="Arial"/>
                <a:cs typeface="Arial"/>
                <a:sym typeface="Arial"/>
              </a:rPr>
              <a:t>: </a:t>
            </a:r>
            <a:br>
              <a:rPr lang="es" sz="850">
                <a:solidFill>
                  <a:srgbClr val="0E0E0E"/>
                </a:solidFill>
                <a:latin typeface="Arial"/>
                <a:ea typeface="Arial"/>
                <a:cs typeface="Arial"/>
                <a:sym typeface="Arial"/>
              </a:rPr>
            </a:br>
            <a:r>
              <a:rPr lang="es" sz="850">
                <a:solidFill>
                  <a:srgbClr val="0E0E0E"/>
                </a:solidFill>
                <a:latin typeface="Arial"/>
                <a:ea typeface="Arial"/>
                <a:cs typeface="Arial"/>
                <a:sym typeface="Arial"/>
              </a:rPr>
              <a:t>This small value suggests that there is almost no correlation between the residuals at different time lags. In practical terms, the residuals from our model appear to be largely independent of each other.</a:t>
            </a:r>
            <a:endParaRPr sz="850">
              <a:solidFill>
                <a:srgbClr val="0E0E0E"/>
              </a:solidFill>
              <a:latin typeface="Arial"/>
              <a:ea typeface="Arial"/>
              <a:cs typeface="Arial"/>
              <a:sym typeface="Arial"/>
            </a:endParaRPr>
          </a:p>
          <a:p>
            <a:pPr indent="-260350" lvl="0" marL="457200" rtl="0" algn="l">
              <a:lnSpc>
                <a:spcPct val="115000"/>
              </a:lnSpc>
              <a:spcBef>
                <a:spcPts val="0"/>
              </a:spcBef>
              <a:spcAft>
                <a:spcPts val="0"/>
              </a:spcAft>
              <a:buClr>
                <a:srgbClr val="000000"/>
              </a:buClr>
              <a:buSzPts val="500"/>
              <a:buFont typeface="Arial"/>
              <a:buChar char="●"/>
            </a:pPr>
            <a:r>
              <a:rPr b="1" lang="es" sz="850">
                <a:solidFill>
                  <a:srgbClr val="0E0E0E"/>
                </a:solidFill>
                <a:latin typeface="Arial"/>
                <a:ea typeface="Arial"/>
                <a:cs typeface="Arial"/>
                <a:sym typeface="Arial"/>
              </a:rPr>
              <a:t>Independence of residuals</a:t>
            </a:r>
            <a:r>
              <a:rPr lang="es" sz="850">
                <a:solidFill>
                  <a:srgbClr val="0E0E0E"/>
                </a:solidFill>
                <a:latin typeface="Arial"/>
                <a:ea typeface="Arial"/>
                <a:cs typeface="Arial"/>
                <a:sym typeface="Arial"/>
              </a:rPr>
              <a:t>: </a:t>
            </a:r>
            <a:br>
              <a:rPr lang="es" sz="850">
                <a:solidFill>
                  <a:srgbClr val="0E0E0E"/>
                </a:solidFill>
                <a:latin typeface="Arial"/>
                <a:ea typeface="Arial"/>
                <a:cs typeface="Arial"/>
                <a:sym typeface="Arial"/>
              </a:rPr>
            </a:br>
            <a:r>
              <a:rPr lang="es" sz="850">
                <a:solidFill>
                  <a:srgbClr val="0E0E0E"/>
                </a:solidFill>
                <a:latin typeface="Arial"/>
                <a:ea typeface="Arial"/>
                <a:cs typeface="Arial"/>
                <a:sym typeface="Arial"/>
              </a:rPr>
              <a:t>When residuals are independent (or nearly so), it means that each residual is not influenced by the previous or future values. This is a desirable property in many models, as it indicates that the model has captured most of the structure in the data, leaving only random noise.</a:t>
            </a:r>
            <a:endParaRPr sz="850">
              <a:solidFill>
                <a:srgbClr val="0E0E0E"/>
              </a:solidFill>
              <a:latin typeface="Arial"/>
              <a:ea typeface="Arial"/>
              <a:cs typeface="Arial"/>
              <a:sym typeface="Arial"/>
            </a:endParaRPr>
          </a:p>
          <a:p>
            <a:pPr indent="-260350" lvl="0" marL="457200" rtl="0" algn="l">
              <a:lnSpc>
                <a:spcPct val="115000"/>
              </a:lnSpc>
              <a:spcBef>
                <a:spcPts val="0"/>
              </a:spcBef>
              <a:spcAft>
                <a:spcPts val="0"/>
              </a:spcAft>
              <a:buClr>
                <a:srgbClr val="000000"/>
              </a:buClr>
              <a:buSzPts val="500"/>
              <a:buFont typeface="Arial"/>
              <a:buChar char="●"/>
            </a:pPr>
            <a:r>
              <a:rPr lang="es" sz="600">
                <a:solidFill>
                  <a:srgbClr val="666666"/>
                </a:solidFill>
                <a:latin typeface="Arial"/>
                <a:ea typeface="Arial"/>
                <a:cs typeface="Arial"/>
                <a:sym typeface="Arial"/>
              </a:rPr>
              <a:t>Interpretation:</a:t>
            </a:r>
            <a:endParaRPr sz="600">
              <a:solidFill>
                <a:srgbClr val="666666"/>
              </a:solidFill>
              <a:latin typeface="Arial"/>
              <a:ea typeface="Arial"/>
              <a:cs typeface="Arial"/>
              <a:sym typeface="Arial"/>
            </a:endParaRPr>
          </a:p>
          <a:p>
            <a:pPr indent="-260350" lvl="0" marL="457200" rtl="0" algn="l">
              <a:lnSpc>
                <a:spcPct val="115000"/>
              </a:lnSpc>
              <a:spcBef>
                <a:spcPts val="0"/>
              </a:spcBef>
              <a:spcAft>
                <a:spcPts val="0"/>
              </a:spcAft>
              <a:buClr>
                <a:srgbClr val="000000"/>
              </a:buClr>
              <a:buSzPts val="500"/>
              <a:buFont typeface="Arial"/>
              <a:buChar char="●"/>
            </a:pPr>
            <a:r>
              <a:rPr b="1" lang="es" sz="850">
                <a:solidFill>
                  <a:srgbClr val="0E0E0E"/>
                </a:solidFill>
                <a:latin typeface="Arial"/>
                <a:ea typeface="Arial"/>
                <a:cs typeface="Arial"/>
                <a:sym typeface="Arial"/>
              </a:rPr>
              <a:t>No significant autocorrelation</a:t>
            </a:r>
            <a:r>
              <a:rPr lang="es" sz="850">
                <a:solidFill>
                  <a:srgbClr val="0E0E0E"/>
                </a:solidFill>
                <a:latin typeface="Arial"/>
                <a:ea typeface="Arial"/>
                <a:cs typeface="Arial"/>
                <a:sym typeface="Arial"/>
              </a:rPr>
              <a:t>: </a:t>
            </a:r>
            <a:br>
              <a:rPr lang="es" sz="850">
                <a:solidFill>
                  <a:srgbClr val="0E0E0E"/>
                </a:solidFill>
                <a:latin typeface="Arial"/>
                <a:ea typeface="Arial"/>
                <a:cs typeface="Arial"/>
                <a:sym typeface="Arial"/>
              </a:rPr>
            </a:br>
            <a:r>
              <a:rPr lang="es" sz="850">
                <a:solidFill>
                  <a:srgbClr val="0E0E0E"/>
                </a:solidFill>
                <a:latin typeface="Arial"/>
                <a:ea typeface="Arial"/>
                <a:cs typeface="Arial"/>
                <a:sym typeface="Arial"/>
              </a:rPr>
              <a:t>The low autocorrelation suggests that there is no persistent pattern in the residuals that would indicate autocorrelated errors. This means that the model does not suffer from </a:t>
            </a:r>
            <a:r>
              <a:rPr b="1" lang="es" sz="850">
                <a:solidFill>
                  <a:srgbClr val="0E0E0E"/>
                </a:solidFill>
                <a:latin typeface="Arial"/>
                <a:ea typeface="Arial"/>
                <a:cs typeface="Arial"/>
                <a:sym typeface="Arial"/>
              </a:rPr>
              <a:t>autocorrelation</a:t>
            </a:r>
            <a:r>
              <a:rPr lang="es" sz="850">
                <a:solidFill>
                  <a:srgbClr val="0E0E0E"/>
                </a:solidFill>
                <a:latin typeface="Arial"/>
                <a:ea typeface="Arial"/>
                <a:cs typeface="Arial"/>
                <a:sym typeface="Arial"/>
              </a:rPr>
              <a:t>, which is often a sign that the model is well-specified in capturing the underlying relationships between the variables.</a:t>
            </a:r>
            <a:endParaRPr sz="850">
              <a:solidFill>
                <a:srgbClr val="0E0E0E"/>
              </a:solidFill>
              <a:latin typeface="Arial"/>
              <a:ea typeface="Arial"/>
              <a:cs typeface="Arial"/>
              <a:sym typeface="Arial"/>
            </a:endParaRPr>
          </a:p>
          <a:p>
            <a:pPr indent="-260350" lvl="0" marL="457200" rtl="0" algn="l">
              <a:lnSpc>
                <a:spcPct val="115000"/>
              </a:lnSpc>
              <a:spcBef>
                <a:spcPts val="0"/>
              </a:spcBef>
              <a:spcAft>
                <a:spcPts val="0"/>
              </a:spcAft>
              <a:buClr>
                <a:srgbClr val="000000"/>
              </a:buClr>
              <a:buSzPts val="500"/>
              <a:buFont typeface="Arial"/>
              <a:buChar char="●"/>
            </a:pPr>
            <a:r>
              <a:rPr b="1" lang="es" sz="850">
                <a:solidFill>
                  <a:srgbClr val="0E0E0E"/>
                </a:solidFill>
                <a:latin typeface="Arial"/>
                <a:ea typeface="Arial"/>
                <a:cs typeface="Arial"/>
                <a:sym typeface="Arial"/>
              </a:rPr>
              <a:t>Model validation</a:t>
            </a:r>
            <a:r>
              <a:rPr lang="es" sz="850">
                <a:solidFill>
                  <a:srgbClr val="0E0E0E"/>
                </a:solidFill>
                <a:latin typeface="Arial"/>
                <a:ea typeface="Arial"/>
                <a:cs typeface="Arial"/>
                <a:sym typeface="Arial"/>
              </a:rPr>
              <a:t>: </a:t>
            </a:r>
            <a:br>
              <a:rPr lang="es" sz="850">
                <a:solidFill>
                  <a:srgbClr val="0E0E0E"/>
                </a:solidFill>
                <a:latin typeface="Arial"/>
                <a:ea typeface="Arial"/>
                <a:cs typeface="Arial"/>
                <a:sym typeface="Arial"/>
              </a:rPr>
            </a:br>
            <a:r>
              <a:rPr lang="es" sz="850">
                <a:solidFill>
                  <a:srgbClr val="0E0E0E"/>
                </a:solidFill>
                <a:latin typeface="Arial"/>
                <a:ea typeface="Arial"/>
                <a:cs typeface="Arial"/>
                <a:sym typeface="Arial"/>
              </a:rPr>
              <a:t>Since our residuals are nearly independent, we can confidently interpret the results of your regression model. The absence of autocorrelation indicates that our model has successfully accounted for temporal relationships, and the </a:t>
            </a:r>
            <a:r>
              <a:rPr b="1" lang="es" sz="850">
                <a:solidFill>
                  <a:srgbClr val="0E0E0E"/>
                </a:solidFill>
                <a:latin typeface="Arial"/>
                <a:ea typeface="Arial"/>
                <a:cs typeface="Arial"/>
                <a:sym typeface="Arial"/>
              </a:rPr>
              <a:t>residuals are behaving like white noise</a:t>
            </a:r>
            <a:r>
              <a:rPr lang="es" sz="850">
                <a:solidFill>
                  <a:srgbClr val="0E0E0E"/>
                </a:solidFill>
                <a:latin typeface="Arial"/>
                <a:ea typeface="Arial"/>
                <a:cs typeface="Arial"/>
                <a:sym typeface="Arial"/>
              </a:rPr>
              <a:t>, which </a:t>
            </a:r>
            <a:r>
              <a:rPr b="1" lang="es" sz="850">
                <a:solidFill>
                  <a:srgbClr val="0E0E0E"/>
                </a:solidFill>
                <a:latin typeface="Arial"/>
                <a:ea typeface="Arial"/>
                <a:cs typeface="Arial"/>
                <a:sym typeface="Arial"/>
              </a:rPr>
              <a:t>is the ideal scenario</a:t>
            </a:r>
            <a:r>
              <a:rPr lang="es" sz="850">
                <a:solidFill>
                  <a:srgbClr val="0E0E0E"/>
                </a:solidFill>
                <a:latin typeface="Arial"/>
                <a:ea typeface="Arial"/>
                <a:cs typeface="Arial"/>
                <a:sym typeface="Arial"/>
              </a:rPr>
              <a:t>.</a:t>
            </a:r>
            <a:endParaRPr sz="850">
              <a:solidFill>
                <a:srgbClr val="0E0E0E"/>
              </a:solidFill>
              <a:latin typeface="Arial"/>
              <a:ea typeface="Arial"/>
              <a:cs typeface="Arial"/>
              <a:sym typeface="Arial"/>
            </a:endParaRPr>
          </a:p>
          <a:p>
            <a:pPr indent="0" lvl="0" marL="457200" rtl="0" algn="l">
              <a:lnSpc>
                <a:spcPct val="115000"/>
              </a:lnSpc>
              <a:spcBef>
                <a:spcPts val="0"/>
              </a:spcBef>
              <a:spcAft>
                <a:spcPts val="0"/>
              </a:spcAft>
              <a:buNone/>
            </a:pPr>
            <a:br>
              <a:rPr lang="es" sz="850">
                <a:solidFill>
                  <a:srgbClr val="0E0E0E"/>
                </a:solidFill>
                <a:latin typeface="Arial"/>
                <a:ea typeface="Arial"/>
                <a:cs typeface="Arial"/>
                <a:sym typeface="Arial"/>
              </a:rPr>
            </a:br>
            <a:endParaRPr b="1" sz="500">
              <a:solidFill>
                <a:srgbClr val="000000"/>
              </a:solidFill>
              <a:latin typeface="Arial"/>
              <a:ea typeface="Arial"/>
              <a:cs typeface="Arial"/>
              <a:sym typeface="Arial"/>
            </a:endParaRPr>
          </a:p>
        </p:txBody>
      </p:sp>
      <p:pic>
        <p:nvPicPr>
          <p:cNvPr id="122" name="Google Shape;122;p18"/>
          <p:cNvPicPr preferRelativeResize="0"/>
          <p:nvPr/>
        </p:nvPicPr>
        <p:blipFill>
          <a:blip r:embed="rId3">
            <a:alphaModFix/>
          </a:blip>
          <a:stretch>
            <a:fillRect/>
          </a:stretch>
        </p:blipFill>
        <p:spPr>
          <a:xfrm>
            <a:off x="4572000" y="504175"/>
            <a:ext cx="4572000" cy="3855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210775" y="-516425"/>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CEI RP</a:t>
            </a:r>
            <a:endParaRPr/>
          </a:p>
        </p:txBody>
      </p:sp>
      <p:sp>
        <p:nvSpPr>
          <p:cNvPr id="128" name="Google Shape;128;p19"/>
          <p:cNvSpPr txBox="1"/>
          <p:nvPr>
            <p:ph idx="1" type="subTitle"/>
          </p:nvPr>
        </p:nvSpPr>
        <p:spPr>
          <a:xfrm>
            <a:off x="210775" y="1294300"/>
            <a:ext cx="4045200" cy="3052200"/>
          </a:xfrm>
          <a:prstGeom prst="rect">
            <a:avLst/>
          </a:prstGeom>
        </p:spPr>
        <p:txBody>
          <a:bodyPr anchorCtr="0" anchor="t" bIns="91425" lIns="91425" spcFirstLastPara="1" rIns="91425" wrap="square" tIns="91425">
            <a:noAutofit/>
          </a:bodyPr>
          <a:lstStyle/>
          <a:p>
            <a:pPr indent="0" lvl="0" marL="0" rtl="0" algn="l">
              <a:lnSpc>
                <a:spcPct val="150000"/>
              </a:lnSpc>
              <a:spcBef>
                <a:spcPts val="1400"/>
              </a:spcBef>
              <a:spcAft>
                <a:spcPts val="0"/>
              </a:spcAft>
              <a:buNone/>
            </a:pPr>
            <a:r>
              <a:rPr lang="es" sz="1200">
                <a:solidFill>
                  <a:srgbClr val="666666"/>
                </a:solidFill>
                <a:latin typeface="Arial"/>
                <a:ea typeface="Arial"/>
                <a:cs typeface="Arial"/>
                <a:sym typeface="Arial"/>
              </a:rPr>
              <a:t>Key Findings</a:t>
            </a:r>
            <a:endParaRPr sz="1200">
              <a:solidFill>
                <a:srgbClr val="666666"/>
              </a:solidFill>
              <a:latin typeface="Arial"/>
              <a:ea typeface="Arial"/>
              <a:cs typeface="Arial"/>
              <a:sym typeface="Arial"/>
            </a:endParaRPr>
          </a:p>
          <a:p>
            <a:pPr indent="0" lvl="0" marL="0" rtl="0" algn="l">
              <a:lnSpc>
                <a:spcPct val="150000"/>
              </a:lnSpc>
              <a:spcBef>
                <a:spcPts val="1400"/>
              </a:spcBef>
              <a:spcAft>
                <a:spcPts val="0"/>
              </a:spcAft>
              <a:buNone/>
            </a:pPr>
            <a:r>
              <a:rPr lang="es" sz="1100">
                <a:solidFill>
                  <a:srgbClr val="000000"/>
                </a:solidFill>
                <a:latin typeface="Arial"/>
                <a:ea typeface="Arial"/>
                <a:cs typeface="Arial"/>
                <a:sym typeface="Arial"/>
              </a:rPr>
              <a:t>Given that your Augmented Dickey-Fuller (ADF) test p-value is </a:t>
            </a:r>
            <a:r>
              <a:rPr b="1" lang="es" sz="1100">
                <a:solidFill>
                  <a:srgbClr val="000000"/>
                </a:solidFill>
                <a:latin typeface="Arial"/>
                <a:ea typeface="Arial"/>
                <a:cs typeface="Arial"/>
                <a:sym typeface="Arial"/>
              </a:rPr>
              <a:t>0.00355</a:t>
            </a:r>
            <a:r>
              <a:rPr lang="es" sz="1200">
                <a:solidFill>
                  <a:srgbClr val="666666"/>
                </a:solidFill>
                <a:latin typeface="Arial"/>
                <a:ea typeface="Arial"/>
                <a:cs typeface="Arial"/>
                <a:sym typeface="Arial"/>
              </a:rPr>
              <a:t>:</a:t>
            </a:r>
            <a:endParaRPr sz="1200">
              <a:solidFill>
                <a:srgbClr val="666666"/>
              </a:solidFill>
              <a:latin typeface="Arial"/>
              <a:ea typeface="Arial"/>
              <a:cs typeface="Arial"/>
              <a:sym typeface="Arial"/>
            </a:endParaRPr>
          </a:p>
          <a:p>
            <a:pPr indent="-295275" lvl="0" marL="457200" rtl="0" algn="l">
              <a:lnSpc>
                <a:spcPct val="150000"/>
              </a:lnSpc>
              <a:spcBef>
                <a:spcPts val="1200"/>
              </a:spcBef>
              <a:spcAft>
                <a:spcPts val="0"/>
              </a:spcAft>
              <a:buClr>
                <a:srgbClr val="212121"/>
              </a:buClr>
              <a:buSzPts val="1050"/>
              <a:buFont typeface="Arial"/>
              <a:buChar char="●"/>
            </a:pPr>
            <a:r>
              <a:rPr b="1" lang="es" sz="1050">
                <a:solidFill>
                  <a:srgbClr val="212121"/>
                </a:solidFill>
                <a:latin typeface="Arial"/>
                <a:ea typeface="Arial"/>
                <a:cs typeface="Arial"/>
                <a:sym typeface="Arial"/>
              </a:rPr>
              <a:t>It’s a stationary time serie</a:t>
            </a:r>
            <a:endParaRPr b="1" sz="1050">
              <a:solidFill>
                <a:srgbClr val="212121"/>
              </a:solidFill>
              <a:latin typeface="Arial"/>
              <a:ea typeface="Arial"/>
              <a:cs typeface="Arial"/>
              <a:sym typeface="Arial"/>
            </a:endParaRPr>
          </a:p>
          <a:p>
            <a:pPr indent="0" lvl="0" marL="0" rtl="0" algn="l">
              <a:lnSpc>
                <a:spcPct val="150000"/>
              </a:lnSpc>
              <a:spcBef>
                <a:spcPts val="1200"/>
              </a:spcBef>
              <a:spcAft>
                <a:spcPts val="0"/>
              </a:spcAft>
              <a:buNone/>
            </a:pPr>
            <a:r>
              <a:rPr lang="es" sz="1100">
                <a:solidFill>
                  <a:srgbClr val="000000"/>
                </a:solidFill>
                <a:latin typeface="Arial"/>
                <a:ea typeface="Arial"/>
                <a:cs typeface="Arial"/>
                <a:sym typeface="Arial"/>
              </a:rPr>
              <a:t>This stationarity implies that the statistical properties of the series, such as mean and variance, are constant over time, making it suitable for further statistical analysis.</a:t>
            </a:r>
            <a:endParaRPr b="1" sz="1050">
              <a:solidFill>
                <a:srgbClr val="212121"/>
              </a:solidFill>
              <a:latin typeface="Arial"/>
              <a:ea typeface="Arial"/>
              <a:cs typeface="Arial"/>
              <a:sym typeface="Arial"/>
            </a:endParaRPr>
          </a:p>
          <a:p>
            <a:pPr indent="0" lvl="0" marL="0" rtl="0" algn="l">
              <a:lnSpc>
                <a:spcPct val="150000"/>
              </a:lnSpc>
              <a:spcBef>
                <a:spcPts val="1200"/>
              </a:spcBef>
              <a:spcAft>
                <a:spcPts val="0"/>
              </a:spcAft>
              <a:buNone/>
            </a:pPr>
            <a:r>
              <a:rPr b="1" lang="es" sz="1050">
                <a:solidFill>
                  <a:srgbClr val="212121"/>
                </a:solidFill>
                <a:latin typeface="Arial"/>
                <a:ea typeface="Arial"/>
                <a:cs typeface="Arial"/>
                <a:sym typeface="Arial"/>
              </a:rPr>
              <a:t>T-statistic:</a:t>
            </a:r>
            <a:r>
              <a:rPr lang="es" sz="1050">
                <a:solidFill>
                  <a:srgbClr val="212121"/>
                </a:solidFill>
                <a:latin typeface="Arial"/>
                <a:ea typeface="Arial"/>
                <a:cs typeface="Arial"/>
                <a:sym typeface="Arial"/>
              </a:rPr>
              <a:t> 15.5563</a:t>
            </a:r>
            <a:endParaRPr sz="1050">
              <a:solidFill>
                <a:srgbClr val="212121"/>
              </a:solidFill>
              <a:latin typeface="Arial"/>
              <a:ea typeface="Arial"/>
              <a:cs typeface="Arial"/>
              <a:sym typeface="Arial"/>
            </a:endParaRPr>
          </a:p>
          <a:p>
            <a:pPr indent="-295275" lvl="0" marL="457200" rtl="0" algn="l">
              <a:lnSpc>
                <a:spcPct val="150000"/>
              </a:lnSpc>
              <a:spcBef>
                <a:spcPts val="1200"/>
              </a:spcBef>
              <a:spcAft>
                <a:spcPts val="0"/>
              </a:spcAft>
              <a:buClr>
                <a:srgbClr val="212121"/>
              </a:buClr>
              <a:buSzPts val="1050"/>
              <a:buFont typeface="Arial"/>
              <a:buChar char="●"/>
            </a:pPr>
            <a:r>
              <a:rPr b="1" lang="es" sz="1050">
                <a:solidFill>
                  <a:srgbClr val="212121"/>
                </a:solidFill>
                <a:latin typeface="Arial"/>
                <a:ea typeface="Arial"/>
                <a:cs typeface="Arial"/>
                <a:sym typeface="Arial"/>
              </a:rPr>
              <a:t>P-value:</a:t>
            </a:r>
            <a:r>
              <a:rPr lang="es" sz="1050">
                <a:solidFill>
                  <a:srgbClr val="212121"/>
                </a:solidFill>
                <a:latin typeface="Arial"/>
                <a:ea typeface="Arial"/>
                <a:cs typeface="Arial"/>
                <a:sym typeface="Arial"/>
              </a:rPr>
              <a:t> 0.0000</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rPr b="1" lang="es" sz="1050">
                <a:solidFill>
                  <a:srgbClr val="212121"/>
                </a:solidFill>
                <a:latin typeface="Arial"/>
                <a:ea typeface="Arial"/>
                <a:cs typeface="Arial"/>
                <a:sym typeface="Arial"/>
              </a:rPr>
              <a:t>Alpha Level:</a:t>
            </a:r>
            <a:r>
              <a:rPr lang="es" sz="1050">
                <a:solidFill>
                  <a:srgbClr val="212121"/>
                </a:solidFill>
                <a:latin typeface="Arial"/>
                <a:ea typeface="Arial"/>
                <a:cs typeface="Arial"/>
                <a:sym typeface="Arial"/>
              </a:rPr>
              <a:t> min(1;1/73 (≈ 0.0137)) so 0.01</a:t>
            </a:r>
            <a:endParaRPr/>
          </a:p>
        </p:txBody>
      </p:sp>
      <p:pic>
        <p:nvPicPr>
          <p:cNvPr id="129" name="Google Shape;129;p19"/>
          <p:cNvPicPr preferRelativeResize="0"/>
          <p:nvPr/>
        </p:nvPicPr>
        <p:blipFill>
          <a:blip r:embed="rId3">
            <a:alphaModFix/>
          </a:blip>
          <a:stretch>
            <a:fillRect/>
          </a:stretch>
        </p:blipFill>
        <p:spPr>
          <a:xfrm>
            <a:off x="4572000" y="359163"/>
            <a:ext cx="4572001" cy="4425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0"/>
          <p:cNvPicPr preferRelativeResize="0"/>
          <p:nvPr/>
        </p:nvPicPr>
        <p:blipFill>
          <a:blip r:embed="rId3">
            <a:alphaModFix/>
          </a:blip>
          <a:stretch>
            <a:fillRect/>
          </a:stretch>
        </p:blipFill>
        <p:spPr>
          <a:xfrm>
            <a:off x="0" y="1042725"/>
            <a:ext cx="4571999" cy="731025"/>
          </a:xfrm>
          <a:prstGeom prst="rect">
            <a:avLst/>
          </a:prstGeom>
          <a:noFill/>
          <a:ln>
            <a:noFill/>
          </a:ln>
        </p:spPr>
      </p:pic>
      <p:pic>
        <p:nvPicPr>
          <p:cNvPr id="135" name="Google Shape;135;p20"/>
          <p:cNvPicPr preferRelativeResize="0"/>
          <p:nvPr/>
        </p:nvPicPr>
        <p:blipFill>
          <a:blip r:embed="rId4">
            <a:alphaModFix/>
          </a:blip>
          <a:stretch>
            <a:fillRect/>
          </a:stretch>
        </p:blipFill>
        <p:spPr>
          <a:xfrm>
            <a:off x="0" y="1974650"/>
            <a:ext cx="4571999" cy="647700"/>
          </a:xfrm>
          <a:prstGeom prst="rect">
            <a:avLst/>
          </a:prstGeom>
          <a:noFill/>
          <a:ln>
            <a:noFill/>
          </a:ln>
        </p:spPr>
      </p:pic>
      <p:pic>
        <p:nvPicPr>
          <p:cNvPr id="136" name="Google Shape;136;p20"/>
          <p:cNvPicPr preferRelativeResize="0"/>
          <p:nvPr/>
        </p:nvPicPr>
        <p:blipFill>
          <a:blip r:embed="rId5">
            <a:alphaModFix/>
          </a:blip>
          <a:stretch>
            <a:fillRect/>
          </a:stretch>
        </p:blipFill>
        <p:spPr>
          <a:xfrm>
            <a:off x="0" y="2823250"/>
            <a:ext cx="4572000" cy="666750"/>
          </a:xfrm>
          <a:prstGeom prst="rect">
            <a:avLst/>
          </a:prstGeom>
          <a:noFill/>
          <a:ln>
            <a:noFill/>
          </a:ln>
        </p:spPr>
      </p:pic>
      <p:sp>
        <p:nvSpPr>
          <p:cNvPr id="137" name="Google Shape;137;p20"/>
          <p:cNvSpPr txBox="1"/>
          <p:nvPr/>
        </p:nvSpPr>
        <p:spPr>
          <a:xfrm>
            <a:off x="4892250" y="0"/>
            <a:ext cx="4071300" cy="447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200"/>
              </a:spcBef>
              <a:spcAft>
                <a:spcPts val="0"/>
              </a:spcAft>
              <a:buNone/>
            </a:pPr>
            <a:r>
              <a:rPr lang="es" sz="900">
                <a:solidFill>
                  <a:schemeClr val="lt1"/>
                </a:solidFill>
              </a:rPr>
              <a:t>Assets’ Performance</a:t>
            </a:r>
            <a:endParaRPr sz="900">
              <a:solidFill>
                <a:schemeClr val="lt1"/>
              </a:solidFill>
            </a:endParaRPr>
          </a:p>
          <a:p>
            <a:pPr indent="0" lvl="0" marL="0" rtl="0" algn="l">
              <a:lnSpc>
                <a:spcPct val="115000"/>
              </a:lnSpc>
              <a:spcBef>
                <a:spcPts val="700"/>
              </a:spcBef>
              <a:spcAft>
                <a:spcPts val="0"/>
              </a:spcAft>
              <a:buNone/>
            </a:pPr>
            <a:r>
              <a:rPr b="1" lang="es" sz="850">
                <a:solidFill>
                  <a:schemeClr val="lt1"/>
                </a:solidFill>
              </a:rPr>
              <a:t>AAA</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Relatively low mean return (0.2%) and low risk (standard deviation of 1.2%).</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Positive skewness (0.1999) means there are occasional positive outliers in the returns.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Kurtosis of 3.3538 suggests the return distribution has slightly </a:t>
            </a:r>
            <a:r>
              <a:rPr b="1" lang="es" sz="850">
                <a:solidFill>
                  <a:schemeClr val="lt1"/>
                </a:solidFill>
              </a:rPr>
              <a:t>heavier tails</a:t>
            </a:r>
            <a:r>
              <a:rPr lang="es" sz="850">
                <a:solidFill>
                  <a:schemeClr val="lt1"/>
                </a:solidFill>
              </a:rPr>
              <a:t> than a normal distribution, meaning it may occasionally have extreme returns.</a:t>
            </a:r>
            <a:endParaRPr sz="850">
              <a:solidFill>
                <a:schemeClr val="lt1"/>
              </a:solidFill>
            </a:endParaRPr>
          </a:p>
          <a:p>
            <a:pPr indent="0" lvl="0" marL="0" rtl="0" algn="l">
              <a:lnSpc>
                <a:spcPct val="115000"/>
              </a:lnSpc>
              <a:spcBef>
                <a:spcPts val="0"/>
              </a:spcBef>
              <a:spcAft>
                <a:spcPts val="0"/>
              </a:spcAft>
              <a:buNone/>
            </a:pPr>
            <a:r>
              <a:rPr b="1" lang="es" sz="850">
                <a:solidFill>
                  <a:schemeClr val="lt1"/>
                </a:solidFill>
              </a:rPr>
              <a:t>BBB</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N</a:t>
            </a:r>
            <a:r>
              <a:rPr b="1" lang="es" sz="850">
                <a:solidFill>
                  <a:schemeClr val="lt1"/>
                </a:solidFill>
              </a:rPr>
              <a:t>egative mean return</a:t>
            </a:r>
            <a:r>
              <a:rPr lang="es" sz="850">
                <a:solidFill>
                  <a:schemeClr val="lt1"/>
                </a:solidFill>
              </a:rPr>
              <a:t> (-8.16%), meaning it consistently underperforms.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S</a:t>
            </a:r>
            <a:r>
              <a:rPr lang="es" sz="850">
                <a:solidFill>
                  <a:schemeClr val="lt1"/>
                </a:solidFill>
              </a:rPr>
              <a:t>tandard deviation (3.36%) is higher than </a:t>
            </a:r>
            <a:r>
              <a:rPr b="1" lang="es" sz="850">
                <a:solidFill>
                  <a:schemeClr val="lt1"/>
                </a:solidFill>
              </a:rPr>
              <a:t>AAA</a:t>
            </a:r>
            <a:r>
              <a:rPr lang="es" sz="850">
                <a:solidFill>
                  <a:schemeClr val="lt1"/>
                </a:solidFill>
              </a:rPr>
              <a:t>, indicating more variability in returns.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a:t>
            </a:r>
            <a:r>
              <a:rPr b="1" lang="es" sz="850">
                <a:solidFill>
                  <a:schemeClr val="lt1"/>
                </a:solidFill>
              </a:rPr>
              <a:t>Negative skewness (-0.1999)</a:t>
            </a:r>
            <a:r>
              <a:rPr lang="es" sz="850">
                <a:solidFill>
                  <a:schemeClr val="lt1"/>
                </a:solidFill>
              </a:rPr>
              <a:t> implies </a:t>
            </a:r>
            <a:r>
              <a:rPr b="1" lang="es" sz="850">
                <a:solidFill>
                  <a:schemeClr val="lt1"/>
                </a:solidFill>
              </a:rPr>
              <a:t>downside risk</a:t>
            </a:r>
            <a:r>
              <a:rPr lang="es" sz="850">
                <a:solidFill>
                  <a:schemeClr val="lt1"/>
                </a:solidFill>
              </a:rPr>
              <a:t>—the left tail of the distribution is heavier, indicating more frequent or extreme negative returns.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Similar </a:t>
            </a:r>
            <a:r>
              <a:rPr b="1" lang="es" sz="850">
                <a:solidFill>
                  <a:schemeClr val="lt1"/>
                </a:solidFill>
              </a:rPr>
              <a:t>kurtosis</a:t>
            </a:r>
            <a:r>
              <a:rPr lang="es" sz="850">
                <a:solidFill>
                  <a:schemeClr val="lt1"/>
                </a:solidFill>
              </a:rPr>
              <a:t> to AAA, but with a </a:t>
            </a:r>
            <a:r>
              <a:rPr b="1" lang="es" sz="850">
                <a:solidFill>
                  <a:schemeClr val="lt1"/>
                </a:solidFill>
              </a:rPr>
              <a:t>more substantial downside</a:t>
            </a:r>
            <a:r>
              <a:rPr lang="es" sz="850">
                <a:solidFill>
                  <a:schemeClr val="lt1"/>
                </a:solidFill>
              </a:rPr>
              <a:t>.</a:t>
            </a:r>
            <a:endParaRPr sz="850">
              <a:solidFill>
                <a:schemeClr val="lt1"/>
              </a:solidFill>
            </a:endParaRPr>
          </a:p>
          <a:p>
            <a:pPr indent="0" lvl="0" marL="0" rtl="0" algn="l">
              <a:lnSpc>
                <a:spcPct val="115000"/>
              </a:lnSpc>
              <a:spcBef>
                <a:spcPts val="0"/>
              </a:spcBef>
              <a:spcAft>
                <a:spcPts val="0"/>
              </a:spcAft>
              <a:buNone/>
            </a:pPr>
            <a:r>
              <a:rPr b="1" lang="es" sz="850">
                <a:solidFill>
                  <a:schemeClr val="lt1"/>
                </a:solidFill>
              </a:rPr>
              <a:t>CCC</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P</a:t>
            </a:r>
            <a:r>
              <a:rPr lang="es" sz="850">
                <a:solidFill>
                  <a:schemeClr val="lt1"/>
                </a:solidFill>
              </a:rPr>
              <a:t>p</a:t>
            </a:r>
            <a:r>
              <a:rPr lang="es" sz="850">
                <a:solidFill>
                  <a:schemeClr val="lt1"/>
                </a:solidFill>
              </a:rPr>
              <a:t>rovides the highest </a:t>
            </a:r>
            <a:r>
              <a:rPr b="1" lang="es" sz="850">
                <a:solidFill>
                  <a:schemeClr val="lt1"/>
                </a:solidFill>
              </a:rPr>
              <a:t>mean return (5.93%)</a:t>
            </a:r>
            <a:r>
              <a:rPr lang="es" sz="850">
                <a:solidFill>
                  <a:schemeClr val="lt1"/>
                </a:solidFill>
              </a:rPr>
              <a:t> but </a:t>
            </a:r>
            <a:r>
              <a:rPr b="1" lang="es" sz="850">
                <a:solidFill>
                  <a:schemeClr val="lt1"/>
                </a:solidFill>
              </a:rPr>
              <a:t>also has the highest standard deviation (4.33%)</a:t>
            </a:r>
            <a:r>
              <a:rPr lang="es" sz="850">
                <a:solidFill>
                  <a:schemeClr val="lt1"/>
                </a:solidFill>
              </a:rPr>
              <a:t>, implying greater </a:t>
            </a:r>
            <a:r>
              <a:rPr b="1" lang="es" sz="850">
                <a:solidFill>
                  <a:schemeClr val="lt1"/>
                </a:solidFill>
              </a:rPr>
              <a:t>risk</a:t>
            </a:r>
            <a:r>
              <a:rPr lang="es" sz="850">
                <a:solidFill>
                  <a:schemeClr val="lt1"/>
                </a:solidFill>
              </a:rPr>
              <a:t>.</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a:t>
            </a:r>
            <a:r>
              <a:rPr b="1" lang="es" sz="850">
                <a:solidFill>
                  <a:schemeClr val="lt1"/>
                </a:solidFill>
              </a:rPr>
              <a:t>Positive skewness (0.1999)</a:t>
            </a:r>
            <a:r>
              <a:rPr lang="es" sz="850">
                <a:solidFill>
                  <a:schemeClr val="lt1"/>
                </a:solidFill>
              </a:rPr>
              <a:t> suggests </a:t>
            </a:r>
            <a:r>
              <a:rPr b="1" lang="es" sz="850">
                <a:solidFill>
                  <a:schemeClr val="lt1"/>
                </a:solidFill>
              </a:rPr>
              <a:t>occasional large positive returns</a:t>
            </a:r>
            <a:r>
              <a:rPr lang="es" sz="850">
                <a:solidFill>
                  <a:schemeClr val="lt1"/>
                </a:solidFill>
              </a:rPr>
              <a:t>, and </a:t>
            </a:r>
            <a:r>
              <a:rPr b="1" lang="es" sz="850">
                <a:solidFill>
                  <a:schemeClr val="lt1"/>
                </a:solidFill>
              </a:rPr>
              <a:t>kurtosis (3.3538) implies the presence of occasional extreme returns</a:t>
            </a:r>
            <a:r>
              <a:rPr lang="es" sz="850">
                <a:solidFill>
                  <a:schemeClr val="lt1"/>
                </a:solidFill>
              </a:rPr>
              <a:t> in both directions, but primarily on the upside.</a:t>
            </a:r>
            <a:endParaRPr sz="8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nvSpPr>
        <p:spPr>
          <a:xfrm>
            <a:off x="4892250" y="0"/>
            <a:ext cx="4071300" cy="447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200"/>
              </a:spcBef>
              <a:spcAft>
                <a:spcPts val="0"/>
              </a:spcAft>
              <a:buNone/>
            </a:pPr>
            <a:r>
              <a:rPr lang="es" sz="900">
                <a:solidFill>
                  <a:schemeClr val="lt1"/>
                </a:solidFill>
              </a:rPr>
              <a:t>Assets’ Performance</a:t>
            </a:r>
            <a:endParaRPr sz="900">
              <a:solidFill>
                <a:schemeClr val="lt1"/>
              </a:solidFill>
            </a:endParaRPr>
          </a:p>
          <a:p>
            <a:pPr indent="0" lvl="0" marL="0" rtl="0" algn="l">
              <a:lnSpc>
                <a:spcPct val="115000"/>
              </a:lnSpc>
              <a:spcBef>
                <a:spcPts val="700"/>
              </a:spcBef>
              <a:spcAft>
                <a:spcPts val="0"/>
              </a:spcAft>
              <a:buNone/>
            </a:pPr>
            <a:r>
              <a:rPr b="1" lang="es" sz="850">
                <a:solidFill>
                  <a:schemeClr val="lt1"/>
                </a:solidFill>
              </a:rPr>
              <a:t>AAA</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a:t>
            </a:r>
            <a:r>
              <a:rPr b="1" lang="es" sz="850">
                <a:solidFill>
                  <a:schemeClr val="lt1"/>
                </a:solidFill>
              </a:rPr>
              <a:t>AAA</a:t>
            </a:r>
            <a:r>
              <a:rPr lang="es" sz="850">
                <a:solidFill>
                  <a:schemeClr val="lt1"/>
                </a:solidFill>
              </a:rPr>
              <a:t> has a relatively low mean return (0.2%) and low risk (standard deviation of 1.2%).</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The positive skewness (0.1999) means there are occasional positive outliers in the returns.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The kurtosis of 3.3538 suggests the return distribution has slightly </a:t>
            </a:r>
            <a:r>
              <a:rPr b="1" lang="es" sz="850">
                <a:solidFill>
                  <a:schemeClr val="lt1"/>
                </a:solidFill>
              </a:rPr>
              <a:t>heavier tails</a:t>
            </a:r>
            <a:r>
              <a:rPr lang="es" sz="850">
                <a:solidFill>
                  <a:schemeClr val="lt1"/>
                </a:solidFill>
              </a:rPr>
              <a:t> than a normal distribution, meaning it may occasionally have extreme returns.</a:t>
            </a:r>
            <a:endParaRPr sz="850">
              <a:solidFill>
                <a:schemeClr val="lt1"/>
              </a:solidFill>
            </a:endParaRPr>
          </a:p>
          <a:p>
            <a:pPr indent="0" lvl="0" marL="0" rtl="0" algn="l">
              <a:lnSpc>
                <a:spcPct val="115000"/>
              </a:lnSpc>
              <a:spcBef>
                <a:spcPts val="0"/>
              </a:spcBef>
              <a:spcAft>
                <a:spcPts val="0"/>
              </a:spcAft>
              <a:buNone/>
            </a:pPr>
            <a:r>
              <a:rPr b="1" lang="es" sz="850">
                <a:solidFill>
                  <a:schemeClr val="lt1"/>
                </a:solidFill>
              </a:rPr>
              <a:t>BBB</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a:t>
            </a:r>
            <a:r>
              <a:rPr b="1" lang="es" sz="850">
                <a:solidFill>
                  <a:schemeClr val="lt1"/>
                </a:solidFill>
              </a:rPr>
              <a:t>BBB</a:t>
            </a:r>
            <a:r>
              <a:rPr lang="es" sz="850">
                <a:solidFill>
                  <a:schemeClr val="lt1"/>
                </a:solidFill>
              </a:rPr>
              <a:t> has a </a:t>
            </a:r>
            <a:r>
              <a:rPr b="1" lang="es" sz="850">
                <a:solidFill>
                  <a:schemeClr val="lt1"/>
                </a:solidFill>
              </a:rPr>
              <a:t>negative mean return</a:t>
            </a:r>
            <a:r>
              <a:rPr lang="es" sz="850">
                <a:solidFill>
                  <a:schemeClr val="lt1"/>
                </a:solidFill>
              </a:rPr>
              <a:t> (-8.16%), meaning it consistently underperforms.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The standard deviation (3.36%) is higher than </a:t>
            </a:r>
            <a:r>
              <a:rPr b="1" lang="es" sz="850">
                <a:solidFill>
                  <a:schemeClr val="lt1"/>
                </a:solidFill>
              </a:rPr>
              <a:t>AAA</a:t>
            </a:r>
            <a:r>
              <a:rPr lang="es" sz="850">
                <a:solidFill>
                  <a:schemeClr val="lt1"/>
                </a:solidFill>
              </a:rPr>
              <a:t>, indicating more variability in returns.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Negative skewness (-0.1999) implies </a:t>
            </a:r>
            <a:r>
              <a:rPr b="1" lang="es" sz="850">
                <a:solidFill>
                  <a:schemeClr val="lt1"/>
                </a:solidFill>
              </a:rPr>
              <a:t>downside risk</a:t>
            </a:r>
            <a:r>
              <a:rPr lang="es" sz="850">
                <a:solidFill>
                  <a:schemeClr val="lt1"/>
                </a:solidFill>
              </a:rPr>
              <a:t>—the left tail of the distribution is heavier, indicating more frequent or extreme negative returns.</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Similar kurtosis to AAA, but with a more substantial downside.</a:t>
            </a:r>
            <a:endParaRPr sz="850">
              <a:solidFill>
                <a:schemeClr val="lt1"/>
              </a:solidFill>
            </a:endParaRPr>
          </a:p>
          <a:p>
            <a:pPr indent="0" lvl="0" marL="0" rtl="0" algn="l">
              <a:lnSpc>
                <a:spcPct val="115000"/>
              </a:lnSpc>
              <a:spcBef>
                <a:spcPts val="0"/>
              </a:spcBef>
              <a:spcAft>
                <a:spcPts val="0"/>
              </a:spcAft>
              <a:buNone/>
            </a:pPr>
            <a:r>
              <a:rPr b="1" lang="es" sz="850">
                <a:solidFill>
                  <a:schemeClr val="lt1"/>
                </a:solidFill>
              </a:rPr>
              <a:t>CCC</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a:t>
            </a:r>
            <a:r>
              <a:rPr b="1" lang="es" sz="850">
                <a:solidFill>
                  <a:schemeClr val="lt1"/>
                </a:solidFill>
              </a:rPr>
              <a:t>CCC</a:t>
            </a:r>
            <a:r>
              <a:rPr lang="es" sz="850">
                <a:solidFill>
                  <a:schemeClr val="lt1"/>
                </a:solidFill>
              </a:rPr>
              <a:t> provides the highest mean return (5.93%) but also has the highest standard deviation (4.33%), implying greater </a:t>
            </a:r>
            <a:r>
              <a:rPr b="1" lang="es" sz="850">
                <a:solidFill>
                  <a:schemeClr val="lt1"/>
                </a:solidFill>
              </a:rPr>
              <a:t>risk</a:t>
            </a:r>
            <a:r>
              <a:rPr lang="es" sz="850">
                <a:solidFill>
                  <a:schemeClr val="lt1"/>
                </a:solidFill>
              </a:rPr>
              <a:t>.</a:t>
            </a:r>
            <a:endParaRPr sz="850">
              <a:solidFill>
                <a:schemeClr val="lt1"/>
              </a:solidFill>
            </a:endParaRPr>
          </a:p>
          <a:p>
            <a:pPr indent="-317500" lvl="0" marL="635000" rtl="0" algn="l">
              <a:lnSpc>
                <a:spcPct val="115000"/>
              </a:lnSpc>
              <a:spcBef>
                <a:spcPts val="0"/>
              </a:spcBef>
              <a:spcAft>
                <a:spcPts val="0"/>
              </a:spcAft>
              <a:buNone/>
            </a:pPr>
            <a:r>
              <a:rPr lang="es" sz="850">
                <a:solidFill>
                  <a:schemeClr val="lt1"/>
                </a:solidFill>
              </a:rPr>
              <a:t>	•	Positive skewness (0.1999) suggests </a:t>
            </a:r>
            <a:r>
              <a:rPr b="1" lang="es" sz="850">
                <a:solidFill>
                  <a:schemeClr val="lt1"/>
                </a:solidFill>
              </a:rPr>
              <a:t>occasional large positive returns</a:t>
            </a:r>
            <a:r>
              <a:rPr lang="es" sz="850">
                <a:solidFill>
                  <a:schemeClr val="lt1"/>
                </a:solidFill>
              </a:rPr>
              <a:t>, and kurtosis (3.3538) implies the presence of occasional extreme returns in both directions, but primarily on the upside.</a:t>
            </a:r>
            <a:endParaRPr sz="800">
              <a:solidFill>
                <a:schemeClr val="lt1"/>
              </a:solidFill>
            </a:endParaRPr>
          </a:p>
        </p:txBody>
      </p:sp>
      <p:sp>
        <p:nvSpPr>
          <p:cNvPr id="143" name="Google Shape;143;p21"/>
          <p:cNvSpPr txBox="1"/>
          <p:nvPr/>
        </p:nvSpPr>
        <p:spPr>
          <a:xfrm>
            <a:off x="296200" y="331800"/>
            <a:ext cx="4071300" cy="4479900"/>
          </a:xfrm>
          <a:prstGeom prst="rect">
            <a:avLst/>
          </a:prstGeom>
          <a:noFill/>
          <a:ln>
            <a:noFill/>
          </a:ln>
        </p:spPr>
        <p:txBody>
          <a:bodyPr anchorCtr="0" anchor="ctr" bIns="91425" lIns="91425" spcFirstLastPara="1" rIns="91425" wrap="square" tIns="91425">
            <a:noAutofit/>
          </a:bodyPr>
          <a:lstStyle/>
          <a:p>
            <a:pPr indent="-127000" lvl="0" marL="254000" rtl="0" algn="l">
              <a:lnSpc>
                <a:spcPct val="115000"/>
              </a:lnSpc>
              <a:spcBef>
                <a:spcPts val="0"/>
              </a:spcBef>
              <a:spcAft>
                <a:spcPts val="0"/>
              </a:spcAft>
              <a:buNone/>
            </a:pPr>
            <a:r>
              <a:rPr lang="es" sz="1150">
                <a:solidFill>
                  <a:srgbClr val="0E0E0E"/>
                </a:solidFill>
              </a:rPr>
              <a:t>	•	</a:t>
            </a:r>
            <a:r>
              <a:rPr b="1" lang="es" sz="1150">
                <a:solidFill>
                  <a:srgbClr val="0E0E0E"/>
                </a:solidFill>
              </a:rPr>
              <a:t>AAA</a:t>
            </a:r>
            <a:r>
              <a:rPr lang="es" sz="1150">
                <a:solidFill>
                  <a:srgbClr val="0E0E0E"/>
                </a:solidFill>
              </a:rPr>
              <a:t>: </a:t>
            </a:r>
            <a:br>
              <a:rPr lang="es" sz="1150">
                <a:solidFill>
                  <a:srgbClr val="0E0E0E"/>
                </a:solidFill>
              </a:rPr>
            </a:br>
            <a:r>
              <a:rPr lang="es" sz="1150">
                <a:solidFill>
                  <a:srgbClr val="0E0E0E"/>
                </a:solidFill>
              </a:rPr>
              <a:t>If </a:t>
            </a:r>
            <a:r>
              <a:rPr b="1" lang="es" sz="1150">
                <a:solidFill>
                  <a:srgbClr val="0E0E0E"/>
                </a:solidFill>
              </a:rPr>
              <a:t>AAA</a:t>
            </a:r>
            <a:r>
              <a:rPr lang="es" sz="1150">
                <a:solidFill>
                  <a:srgbClr val="0E0E0E"/>
                </a:solidFill>
              </a:rPr>
              <a:t> has a </a:t>
            </a:r>
            <a:r>
              <a:rPr b="1" lang="es" sz="1150">
                <a:solidFill>
                  <a:srgbClr val="0E0E0E"/>
                </a:solidFill>
              </a:rPr>
              <a:t>low beta</a:t>
            </a:r>
            <a:r>
              <a:rPr lang="es" sz="1150">
                <a:solidFill>
                  <a:srgbClr val="0E0E0E"/>
                </a:solidFill>
              </a:rPr>
              <a:t> with respect to the CEI, this implies that </a:t>
            </a:r>
            <a:r>
              <a:rPr b="1" lang="es" sz="1150">
                <a:solidFill>
                  <a:srgbClr val="0E0E0E"/>
                </a:solidFill>
              </a:rPr>
              <a:t>AAA</a:t>
            </a:r>
            <a:r>
              <a:rPr lang="es" sz="1150">
                <a:solidFill>
                  <a:srgbClr val="0E0E0E"/>
                </a:solidFill>
              </a:rPr>
              <a:t> is less sensitive to changes in carbon emissions and may be more </a:t>
            </a:r>
            <a:r>
              <a:rPr b="1" lang="es" sz="1150">
                <a:solidFill>
                  <a:srgbClr val="0E0E0E"/>
                </a:solidFill>
              </a:rPr>
              <a:t>environmentally resilient</a:t>
            </a:r>
            <a:r>
              <a:rPr lang="es" sz="1150">
                <a:solidFill>
                  <a:srgbClr val="0E0E0E"/>
                </a:solidFill>
              </a:rPr>
              <a:t>. This could explain why it has a </a:t>
            </a:r>
            <a:r>
              <a:rPr b="1" lang="es" sz="1150">
                <a:solidFill>
                  <a:srgbClr val="0E0E0E"/>
                </a:solidFill>
              </a:rPr>
              <a:t>positive weight</a:t>
            </a:r>
            <a:r>
              <a:rPr lang="es" sz="1150">
                <a:solidFill>
                  <a:srgbClr val="0E0E0E"/>
                </a:solidFill>
              </a:rPr>
              <a:t> in most portfolios, especially for conservative investors seeking lower risk and exposure to CEI.</a:t>
            </a:r>
            <a:endParaRPr sz="1150">
              <a:solidFill>
                <a:srgbClr val="0E0E0E"/>
              </a:solidFill>
            </a:endParaRPr>
          </a:p>
          <a:p>
            <a:pPr indent="-127000" lvl="0" marL="254000" rtl="0" algn="l">
              <a:lnSpc>
                <a:spcPct val="115000"/>
              </a:lnSpc>
              <a:spcBef>
                <a:spcPts val="0"/>
              </a:spcBef>
              <a:spcAft>
                <a:spcPts val="0"/>
              </a:spcAft>
              <a:buNone/>
            </a:pPr>
            <a:r>
              <a:rPr lang="es" sz="1150">
                <a:solidFill>
                  <a:srgbClr val="0E0E0E"/>
                </a:solidFill>
              </a:rPr>
              <a:t>	•	</a:t>
            </a:r>
            <a:r>
              <a:rPr b="1" lang="es" sz="1150">
                <a:solidFill>
                  <a:srgbClr val="0E0E0E"/>
                </a:solidFill>
              </a:rPr>
              <a:t>BBB</a:t>
            </a:r>
            <a:r>
              <a:rPr lang="es" sz="1150">
                <a:solidFill>
                  <a:srgbClr val="0E0E0E"/>
                </a:solidFill>
              </a:rPr>
              <a:t>: </a:t>
            </a:r>
            <a:br>
              <a:rPr lang="es" sz="1150">
                <a:solidFill>
                  <a:srgbClr val="0E0E0E"/>
                </a:solidFill>
              </a:rPr>
            </a:br>
            <a:r>
              <a:rPr lang="es" sz="1150">
                <a:solidFill>
                  <a:srgbClr val="0E0E0E"/>
                </a:solidFill>
              </a:rPr>
              <a:t>If </a:t>
            </a:r>
            <a:r>
              <a:rPr b="1" lang="es" sz="1150">
                <a:solidFill>
                  <a:srgbClr val="0E0E0E"/>
                </a:solidFill>
              </a:rPr>
              <a:t>BBB</a:t>
            </a:r>
            <a:r>
              <a:rPr lang="es" sz="1150">
                <a:solidFill>
                  <a:srgbClr val="0E0E0E"/>
                </a:solidFill>
              </a:rPr>
              <a:t> has a </a:t>
            </a:r>
            <a:r>
              <a:rPr b="1" lang="es" sz="1150">
                <a:solidFill>
                  <a:srgbClr val="0E0E0E"/>
                </a:solidFill>
              </a:rPr>
              <a:t>negative beta</a:t>
            </a:r>
            <a:r>
              <a:rPr lang="es" sz="1150">
                <a:solidFill>
                  <a:srgbClr val="0E0E0E"/>
                </a:solidFill>
              </a:rPr>
              <a:t>, its </a:t>
            </a:r>
            <a:r>
              <a:rPr b="1" lang="es" sz="1150">
                <a:solidFill>
                  <a:srgbClr val="0E0E0E"/>
                </a:solidFill>
              </a:rPr>
              <a:t>negative return</a:t>
            </a:r>
            <a:r>
              <a:rPr lang="es" sz="1150">
                <a:solidFill>
                  <a:srgbClr val="0E0E0E"/>
                </a:solidFill>
              </a:rPr>
              <a:t> and </a:t>
            </a:r>
            <a:r>
              <a:rPr b="1" lang="es" sz="1150">
                <a:solidFill>
                  <a:srgbClr val="0E0E0E"/>
                </a:solidFill>
              </a:rPr>
              <a:t>negative weight</a:t>
            </a:r>
            <a:r>
              <a:rPr lang="es" sz="1150">
                <a:solidFill>
                  <a:srgbClr val="0E0E0E"/>
                </a:solidFill>
              </a:rPr>
              <a:t> in most portfolios suggest it might be more </a:t>
            </a:r>
            <a:r>
              <a:rPr b="1" lang="es" sz="1150">
                <a:solidFill>
                  <a:srgbClr val="0E0E0E"/>
                </a:solidFill>
              </a:rPr>
              <a:t>exposed to carbon-intensive industries</a:t>
            </a:r>
            <a:r>
              <a:rPr lang="es" sz="1150">
                <a:solidFill>
                  <a:srgbClr val="0E0E0E"/>
                </a:solidFill>
              </a:rPr>
              <a:t> or other risks related to CEI. Investors are likely </a:t>
            </a:r>
            <a:r>
              <a:rPr b="1" lang="es" sz="1150">
                <a:solidFill>
                  <a:srgbClr val="0E0E0E"/>
                </a:solidFill>
              </a:rPr>
              <a:t>shorting BBB</a:t>
            </a:r>
            <a:r>
              <a:rPr lang="es" sz="1150">
                <a:solidFill>
                  <a:srgbClr val="0E0E0E"/>
                </a:solidFill>
              </a:rPr>
              <a:t> to hedge against risks associated with carbon emissions.</a:t>
            </a:r>
            <a:endParaRPr sz="1150">
              <a:solidFill>
                <a:srgbClr val="0E0E0E"/>
              </a:solidFill>
            </a:endParaRPr>
          </a:p>
          <a:p>
            <a:pPr indent="-127000" lvl="0" marL="254000" rtl="0" algn="l">
              <a:lnSpc>
                <a:spcPct val="115000"/>
              </a:lnSpc>
              <a:spcBef>
                <a:spcPts val="0"/>
              </a:spcBef>
              <a:spcAft>
                <a:spcPts val="0"/>
              </a:spcAft>
              <a:buNone/>
            </a:pPr>
            <a:r>
              <a:rPr lang="es" sz="1150">
                <a:solidFill>
                  <a:srgbClr val="0E0E0E"/>
                </a:solidFill>
              </a:rPr>
              <a:t>	•	</a:t>
            </a:r>
            <a:r>
              <a:rPr b="1" lang="es" sz="1150">
                <a:solidFill>
                  <a:srgbClr val="0E0E0E"/>
                </a:solidFill>
              </a:rPr>
              <a:t>CCC</a:t>
            </a:r>
            <a:r>
              <a:rPr lang="es" sz="1150">
                <a:solidFill>
                  <a:srgbClr val="0E0E0E"/>
                </a:solidFill>
              </a:rPr>
              <a:t>: </a:t>
            </a:r>
            <a:br>
              <a:rPr lang="es" sz="1150">
                <a:solidFill>
                  <a:srgbClr val="0E0E0E"/>
                </a:solidFill>
              </a:rPr>
            </a:br>
            <a:r>
              <a:rPr lang="es" sz="1150">
                <a:solidFill>
                  <a:srgbClr val="0E0E0E"/>
                </a:solidFill>
              </a:rPr>
              <a:t>If </a:t>
            </a:r>
            <a:r>
              <a:rPr b="1" lang="es" sz="1150">
                <a:solidFill>
                  <a:srgbClr val="0E0E0E"/>
                </a:solidFill>
              </a:rPr>
              <a:t>CCC</a:t>
            </a:r>
            <a:r>
              <a:rPr lang="es" sz="1150">
                <a:solidFill>
                  <a:srgbClr val="0E0E0E"/>
                </a:solidFill>
              </a:rPr>
              <a:t> has a </a:t>
            </a:r>
            <a:r>
              <a:rPr b="1" lang="es" sz="1150">
                <a:solidFill>
                  <a:srgbClr val="0E0E0E"/>
                </a:solidFill>
              </a:rPr>
              <a:t>high beta</a:t>
            </a:r>
            <a:r>
              <a:rPr lang="es" sz="1150">
                <a:solidFill>
                  <a:srgbClr val="0E0E0E"/>
                </a:solidFill>
              </a:rPr>
              <a:t>, it is more sensitive to </a:t>
            </a:r>
            <a:r>
              <a:rPr b="1" lang="es" sz="1150">
                <a:solidFill>
                  <a:srgbClr val="0E0E0E"/>
                </a:solidFill>
              </a:rPr>
              <a:t>carbon risk</a:t>
            </a:r>
            <a:r>
              <a:rPr lang="es" sz="1150">
                <a:solidFill>
                  <a:srgbClr val="0E0E0E"/>
                </a:solidFill>
              </a:rPr>
              <a:t>. The fact that </a:t>
            </a:r>
            <a:r>
              <a:rPr b="1" lang="es" sz="1150">
                <a:solidFill>
                  <a:srgbClr val="0E0E0E"/>
                </a:solidFill>
              </a:rPr>
              <a:t>CCC</a:t>
            </a:r>
            <a:r>
              <a:rPr lang="es" sz="1150">
                <a:solidFill>
                  <a:srgbClr val="0E0E0E"/>
                </a:solidFill>
              </a:rPr>
              <a:t> has </a:t>
            </a:r>
            <a:r>
              <a:rPr b="1" lang="es" sz="1150">
                <a:solidFill>
                  <a:srgbClr val="0E0E0E"/>
                </a:solidFill>
              </a:rPr>
              <a:t>higher returns but higher risk</a:t>
            </a:r>
            <a:r>
              <a:rPr lang="es" sz="1150">
                <a:solidFill>
                  <a:srgbClr val="0E0E0E"/>
                </a:solidFill>
              </a:rPr>
              <a:t> means that investors expecting high returns may accept its exposure to CEI risks. It is weighted more heavily in the riskier portfolios.</a:t>
            </a:r>
            <a:endParaRPr sz="600">
              <a:solidFill>
                <a:srgbClr val="212121"/>
              </a:solidFill>
            </a:endParaRPr>
          </a:p>
          <a:p>
            <a:pPr indent="-317500" lvl="0" marL="635000" rtl="0" algn="l">
              <a:lnSpc>
                <a:spcPct val="115000"/>
              </a:lnSpc>
              <a:spcBef>
                <a:spcPts val="0"/>
              </a:spcBef>
              <a:spcAft>
                <a:spcPts val="0"/>
              </a:spcAft>
              <a:buNone/>
            </a:pPr>
            <a:r>
              <a:t/>
            </a:r>
            <a:endParaRPr sz="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p:nvPr/>
        </p:nvSpPr>
        <p:spPr>
          <a:xfrm>
            <a:off x="7014920" y="2133119"/>
            <a:ext cx="286500" cy="2865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22"/>
          <p:cNvGrpSpPr/>
          <p:nvPr/>
        </p:nvGrpSpPr>
        <p:grpSpPr>
          <a:xfrm>
            <a:off x="4939534" y="2017046"/>
            <a:ext cx="3825543" cy="1573620"/>
            <a:chOff x="1000000" y="2393988"/>
            <a:chExt cx="4144235" cy="1704713"/>
          </a:xfrm>
        </p:grpSpPr>
        <p:sp>
          <p:nvSpPr>
            <p:cNvPr id="150" name="Google Shape;150;p22"/>
            <p:cNvSpPr/>
            <p:nvPr/>
          </p:nvSpPr>
          <p:spPr>
            <a:xfrm>
              <a:off x="1000000" y="2440003"/>
              <a:ext cx="4144235" cy="1631269"/>
            </a:xfrm>
            <a:custGeom>
              <a:rect b="b" l="l" r="r" t="t"/>
              <a:pathLst>
                <a:path extrusionOk="0" h="90088" w="165422">
                  <a:moveTo>
                    <a:pt x="0" y="65550"/>
                  </a:moveTo>
                  <a:cubicBezTo>
                    <a:pt x="3559" y="56002"/>
                    <a:pt x="14632" y="11595"/>
                    <a:pt x="21355" y="8262"/>
                  </a:cubicBezTo>
                  <a:cubicBezTo>
                    <a:pt x="28078" y="4929"/>
                    <a:pt x="34067" y="46906"/>
                    <a:pt x="40338" y="45550"/>
                  </a:cubicBezTo>
                  <a:cubicBezTo>
                    <a:pt x="46609" y="44194"/>
                    <a:pt x="52711" y="2161"/>
                    <a:pt x="58982" y="127"/>
                  </a:cubicBezTo>
                  <a:cubicBezTo>
                    <a:pt x="65253" y="-1907"/>
                    <a:pt x="71807" y="30974"/>
                    <a:pt x="77965" y="33347"/>
                  </a:cubicBezTo>
                  <a:cubicBezTo>
                    <a:pt x="84123" y="35720"/>
                    <a:pt x="90055" y="6285"/>
                    <a:pt x="95931" y="14364"/>
                  </a:cubicBezTo>
                  <a:cubicBezTo>
                    <a:pt x="101807" y="22443"/>
                    <a:pt x="107626" y="77414"/>
                    <a:pt x="113219" y="81821"/>
                  </a:cubicBezTo>
                  <a:cubicBezTo>
                    <a:pt x="118812" y="86228"/>
                    <a:pt x="123671" y="39448"/>
                    <a:pt x="129490" y="40804"/>
                  </a:cubicBezTo>
                  <a:cubicBezTo>
                    <a:pt x="135309" y="42160"/>
                    <a:pt x="142145" y="92047"/>
                    <a:pt x="148134" y="89957"/>
                  </a:cubicBezTo>
                  <a:cubicBezTo>
                    <a:pt x="154123" y="87867"/>
                    <a:pt x="162541" y="38545"/>
                    <a:pt x="165422" y="28262"/>
                  </a:cubicBezTo>
                </a:path>
              </a:pathLst>
            </a:custGeom>
            <a:noFill/>
            <a:ln cap="flat" cmpd="sng" w="19050">
              <a:solidFill>
                <a:schemeClr val="lt1"/>
              </a:solidFill>
              <a:prstDash val="solid"/>
              <a:round/>
              <a:headEnd len="med" w="med" type="oval"/>
              <a:tailEnd len="med" w="med" type="oval"/>
            </a:ln>
          </p:spPr>
        </p:sp>
        <p:sp>
          <p:nvSpPr>
            <p:cNvPr id="151" name="Google Shape;151;p22"/>
            <p:cNvSpPr/>
            <p:nvPr/>
          </p:nvSpPr>
          <p:spPr>
            <a:xfrm>
              <a:off x="4658400" y="401410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2"/>
            <p:cNvSpPr/>
            <p:nvPr/>
          </p:nvSpPr>
          <p:spPr>
            <a:xfrm>
              <a:off x="4195525" y="314735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p:nvPr/>
          </p:nvSpPr>
          <p:spPr>
            <a:xfrm>
              <a:off x="3800700" y="386890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2"/>
            <p:cNvSpPr/>
            <p:nvPr/>
          </p:nvSpPr>
          <p:spPr>
            <a:xfrm>
              <a:off x="3358650" y="2637813"/>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2"/>
            <p:cNvSpPr/>
            <p:nvPr/>
          </p:nvSpPr>
          <p:spPr>
            <a:xfrm>
              <a:off x="2909400" y="2993013"/>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2"/>
            <p:cNvSpPr/>
            <p:nvPr/>
          </p:nvSpPr>
          <p:spPr>
            <a:xfrm>
              <a:off x="2437450" y="2393988"/>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p:nvPr/>
          </p:nvSpPr>
          <p:spPr>
            <a:xfrm>
              <a:off x="1974575" y="3213325"/>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p:nvPr/>
          </p:nvSpPr>
          <p:spPr>
            <a:xfrm>
              <a:off x="1500000" y="2553225"/>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22"/>
          <p:cNvSpPr/>
          <p:nvPr/>
        </p:nvSpPr>
        <p:spPr>
          <a:xfrm>
            <a:off x="6847150" y="1577745"/>
            <a:ext cx="1179600" cy="343800"/>
          </a:xfrm>
          <a:prstGeom prst="wedgeRoundRectCallout">
            <a:avLst>
              <a:gd fmla="val -21432" name="adj1"/>
              <a:gd fmla="val 84969" name="adj2"/>
              <a:gd fmla="val 0" name="adj3"/>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2"/>
          <p:cNvSpPr/>
          <p:nvPr/>
        </p:nvSpPr>
        <p:spPr>
          <a:xfrm>
            <a:off x="6847150" y="1577750"/>
            <a:ext cx="1809900" cy="343800"/>
          </a:xfrm>
          <a:prstGeom prst="wedgeRoundRectCallout">
            <a:avLst>
              <a:gd fmla="val -18093" name="adj1"/>
              <a:gd fmla="val 45006" name="adj2"/>
              <a:gd fmla="val 0" name="adj3"/>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2"/>
          <p:cNvSpPr txBox="1"/>
          <p:nvPr>
            <p:ph idx="2" type="body"/>
          </p:nvPr>
        </p:nvSpPr>
        <p:spPr>
          <a:xfrm>
            <a:off x="6847150" y="1606400"/>
            <a:ext cx="1809900" cy="28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sz="1300">
                <a:solidFill>
                  <a:schemeClr val="dk1"/>
                </a:solidFill>
              </a:rPr>
              <a:t>crecimiento máximo</a:t>
            </a:r>
            <a:endParaRPr sz="1300">
              <a:solidFill>
                <a:schemeClr val="dk1"/>
              </a:solidFill>
            </a:endParaRPr>
          </a:p>
        </p:txBody>
      </p:sp>
      <p:pic>
        <p:nvPicPr>
          <p:cNvPr id="162" name="Google Shape;162;p22"/>
          <p:cNvPicPr preferRelativeResize="0"/>
          <p:nvPr/>
        </p:nvPicPr>
        <p:blipFill>
          <a:blip r:embed="rId3">
            <a:alphaModFix/>
          </a:blip>
          <a:stretch>
            <a:fillRect/>
          </a:stretch>
        </p:blipFill>
        <p:spPr>
          <a:xfrm>
            <a:off x="3204325" y="0"/>
            <a:ext cx="5939674" cy="5143500"/>
          </a:xfrm>
          <a:prstGeom prst="rect">
            <a:avLst/>
          </a:prstGeom>
          <a:noFill/>
          <a:ln>
            <a:noFill/>
          </a:ln>
        </p:spPr>
      </p:pic>
      <p:pic>
        <p:nvPicPr>
          <p:cNvPr id="163" name="Google Shape;163;p22"/>
          <p:cNvPicPr preferRelativeResize="0"/>
          <p:nvPr/>
        </p:nvPicPr>
        <p:blipFill>
          <a:blip r:embed="rId4">
            <a:alphaModFix/>
          </a:blip>
          <a:stretch>
            <a:fillRect/>
          </a:stretch>
        </p:blipFill>
        <p:spPr>
          <a:xfrm>
            <a:off x="0" y="0"/>
            <a:ext cx="3414251"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3"/>
          <p:cNvPicPr preferRelativeResize="0"/>
          <p:nvPr/>
        </p:nvPicPr>
        <p:blipFill>
          <a:blip r:embed="rId3">
            <a:alphaModFix/>
          </a:blip>
          <a:stretch>
            <a:fillRect/>
          </a:stretch>
        </p:blipFill>
        <p:spPr>
          <a:xfrm>
            <a:off x="0" y="0"/>
            <a:ext cx="4434899" cy="5143500"/>
          </a:xfrm>
          <a:prstGeom prst="rect">
            <a:avLst/>
          </a:prstGeom>
          <a:noFill/>
          <a:ln>
            <a:noFill/>
          </a:ln>
        </p:spPr>
      </p:pic>
      <p:sp>
        <p:nvSpPr>
          <p:cNvPr id="169" name="Google Shape;169;p23"/>
          <p:cNvSpPr txBox="1"/>
          <p:nvPr/>
        </p:nvSpPr>
        <p:spPr>
          <a:xfrm>
            <a:off x="4572000" y="350700"/>
            <a:ext cx="4572000" cy="4442100"/>
          </a:xfrm>
          <a:prstGeom prst="rect">
            <a:avLst/>
          </a:prstGeom>
          <a:noFill/>
          <a:ln>
            <a:noFill/>
          </a:ln>
        </p:spPr>
        <p:txBody>
          <a:bodyPr anchorCtr="0" anchor="t" bIns="91425" lIns="91425" spcFirstLastPara="1" rIns="91425" wrap="square" tIns="91425">
            <a:noAutofit/>
          </a:bodyPr>
          <a:lstStyle/>
          <a:p>
            <a:pPr indent="-307975" lvl="0" marL="457200" rtl="0" algn="l">
              <a:lnSpc>
                <a:spcPct val="115000"/>
              </a:lnSpc>
              <a:spcBef>
                <a:spcPts val="0"/>
              </a:spcBef>
              <a:spcAft>
                <a:spcPts val="0"/>
              </a:spcAft>
              <a:buClr>
                <a:schemeClr val="lt1"/>
              </a:buClr>
              <a:buSzPts val="1250"/>
              <a:buChar char="●"/>
            </a:pPr>
            <a:r>
              <a:rPr b="1" lang="es" sz="1250">
                <a:solidFill>
                  <a:schemeClr val="lt1"/>
                </a:solidFill>
              </a:rPr>
              <a:t>AAA</a:t>
            </a:r>
            <a:r>
              <a:rPr lang="es" sz="1250">
                <a:solidFill>
                  <a:schemeClr val="lt1"/>
                </a:solidFill>
              </a:rPr>
              <a:t>’s consistent positive weighting in all portfolios indicates that it is </a:t>
            </a:r>
            <a:r>
              <a:rPr b="1" lang="es" sz="1250">
                <a:solidFill>
                  <a:schemeClr val="lt1"/>
                </a:solidFill>
              </a:rPr>
              <a:t>low CEI risk</a:t>
            </a:r>
            <a:r>
              <a:rPr lang="es" sz="1250">
                <a:solidFill>
                  <a:schemeClr val="lt1"/>
                </a:solidFill>
              </a:rPr>
              <a:t>, making it attractive to both conservative and risk-seeking investors.</a:t>
            </a:r>
            <a:endParaRPr sz="1250">
              <a:solidFill>
                <a:schemeClr val="lt1"/>
              </a:solidFill>
            </a:endParaRPr>
          </a:p>
          <a:p>
            <a:pPr indent="0" lvl="0" marL="457200" rtl="0" algn="l">
              <a:lnSpc>
                <a:spcPct val="115000"/>
              </a:lnSpc>
              <a:spcBef>
                <a:spcPts val="0"/>
              </a:spcBef>
              <a:spcAft>
                <a:spcPts val="0"/>
              </a:spcAft>
              <a:buNone/>
            </a:pPr>
            <a:r>
              <a:t/>
            </a:r>
            <a:endParaRPr sz="1250">
              <a:solidFill>
                <a:schemeClr val="lt1"/>
              </a:solidFill>
            </a:endParaRPr>
          </a:p>
          <a:p>
            <a:pPr indent="-307975" lvl="0" marL="457200" rtl="0" algn="l">
              <a:lnSpc>
                <a:spcPct val="115000"/>
              </a:lnSpc>
              <a:spcBef>
                <a:spcPts val="0"/>
              </a:spcBef>
              <a:spcAft>
                <a:spcPts val="0"/>
              </a:spcAft>
              <a:buClr>
                <a:schemeClr val="lt1"/>
              </a:buClr>
              <a:buSzPts val="1250"/>
              <a:buChar char="●"/>
            </a:pPr>
            <a:r>
              <a:rPr b="1" lang="es" sz="1250">
                <a:solidFill>
                  <a:schemeClr val="lt1"/>
                </a:solidFill>
              </a:rPr>
              <a:t>BBB</a:t>
            </a:r>
            <a:r>
              <a:rPr lang="es" sz="1250">
                <a:solidFill>
                  <a:schemeClr val="lt1"/>
                </a:solidFill>
              </a:rPr>
              <a:t> consistently has </a:t>
            </a:r>
            <a:r>
              <a:rPr b="1" lang="es" sz="1250">
                <a:solidFill>
                  <a:schemeClr val="lt1"/>
                </a:solidFill>
              </a:rPr>
              <a:t>negative weight</a:t>
            </a:r>
            <a:r>
              <a:rPr lang="es" sz="1250">
                <a:solidFill>
                  <a:schemeClr val="lt1"/>
                </a:solidFill>
              </a:rPr>
              <a:t> due to its </a:t>
            </a:r>
            <a:r>
              <a:rPr b="1" lang="es" sz="1250">
                <a:solidFill>
                  <a:schemeClr val="lt1"/>
                </a:solidFill>
              </a:rPr>
              <a:t>negative return</a:t>
            </a:r>
            <a:r>
              <a:rPr lang="es" sz="1250">
                <a:solidFill>
                  <a:schemeClr val="lt1"/>
                </a:solidFill>
              </a:rPr>
              <a:t> and high sensitivity to CEI risk, making it a good candidate for shorting.</a:t>
            </a:r>
            <a:endParaRPr sz="1250">
              <a:solidFill>
                <a:schemeClr val="lt1"/>
              </a:solidFill>
            </a:endParaRPr>
          </a:p>
          <a:p>
            <a:pPr indent="0" lvl="0" marL="457200" rtl="0" algn="l">
              <a:lnSpc>
                <a:spcPct val="115000"/>
              </a:lnSpc>
              <a:spcBef>
                <a:spcPts val="0"/>
              </a:spcBef>
              <a:spcAft>
                <a:spcPts val="0"/>
              </a:spcAft>
              <a:buNone/>
            </a:pPr>
            <a:r>
              <a:t/>
            </a:r>
            <a:endParaRPr sz="1250">
              <a:solidFill>
                <a:schemeClr val="lt1"/>
              </a:solidFill>
            </a:endParaRPr>
          </a:p>
          <a:p>
            <a:pPr indent="-307975" lvl="0" marL="457200" rtl="0" algn="l">
              <a:lnSpc>
                <a:spcPct val="115000"/>
              </a:lnSpc>
              <a:spcBef>
                <a:spcPts val="0"/>
              </a:spcBef>
              <a:spcAft>
                <a:spcPts val="0"/>
              </a:spcAft>
              <a:buClr>
                <a:schemeClr val="lt1"/>
              </a:buClr>
              <a:buSzPts val="1250"/>
              <a:buChar char="●"/>
            </a:pPr>
            <a:r>
              <a:rPr b="1" lang="es" sz="1250">
                <a:solidFill>
                  <a:schemeClr val="lt1"/>
                </a:solidFill>
              </a:rPr>
              <a:t>CCC</a:t>
            </a:r>
            <a:r>
              <a:rPr lang="es" sz="1250">
                <a:solidFill>
                  <a:schemeClr val="lt1"/>
                </a:solidFill>
              </a:rPr>
              <a:t> offers the highest returns but also the highest CEI exposure and risk, making it more suitable for investors with higher risk tolerance who expect to benefit from industries exposed to </a:t>
            </a:r>
            <a:r>
              <a:rPr b="1" lang="es" sz="1250">
                <a:solidFill>
                  <a:schemeClr val="lt1"/>
                </a:solidFill>
              </a:rPr>
              <a:t>carbon risk</a:t>
            </a:r>
            <a:r>
              <a:rPr lang="es" sz="1250">
                <a:solidFill>
                  <a:schemeClr val="lt1"/>
                </a:solidFill>
              </a:rPr>
              <a:t>.</a:t>
            </a:r>
            <a:endParaRPr sz="1250">
              <a:solidFill>
                <a:schemeClr val="lt1"/>
              </a:solidFill>
            </a:endParaRPr>
          </a:p>
          <a:p>
            <a:pPr indent="0" lvl="0" marL="0" rtl="0" algn="l">
              <a:lnSpc>
                <a:spcPct val="115000"/>
              </a:lnSpc>
              <a:spcBef>
                <a:spcPts val="0"/>
              </a:spcBef>
              <a:spcAft>
                <a:spcPts val="0"/>
              </a:spcAft>
              <a:buNone/>
            </a:pPr>
            <a:r>
              <a:t/>
            </a:r>
            <a:endParaRPr sz="1250">
              <a:solidFill>
                <a:schemeClr val="lt1"/>
              </a:solidFill>
            </a:endParaRPr>
          </a:p>
          <a:p>
            <a:pPr indent="0" lvl="0" marL="0" rtl="0" algn="l">
              <a:lnSpc>
                <a:spcPct val="115000"/>
              </a:lnSpc>
              <a:spcBef>
                <a:spcPts val="0"/>
              </a:spcBef>
              <a:spcAft>
                <a:spcPts val="0"/>
              </a:spcAft>
              <a:buNone/>
            </a:pPr>
            <a:r>
              <a:rPr lang="es" sz="1250">
                <a:solidFill>
                  <a:schemeClr val="lt1"/>
                </a:solidFill>
              </a:rPr>
              <a:t>This strategy aligns with investors’ views on the </a:t>
            </a:r>
            <a:r>
              <a:rPr b="1" lang="es" sz="1250">
                <a:solidFill>
                  <a:schemeClr val="lt1"/>
                </a:solidFill>
              </a:rPr>
              <a:t>environmental impact</a:t>
            </a:r>
            <a:r>
              <a:rPr lang="es" sz="1250">
                <a:solidFill>
                  <a:schemeClr val="lt1"/>
                </a:solidFill>
              </a:rPr>
              <a:t> of carbon emissions, with portfolios offering different levels of </a:t>
            </a:r>
            <a:r>
              <a:rPr b="1" lang="es" sz="1250">
                <a:solidFill>
                  <a:schemeClr val="lt1"/>
                </a:solidFill>
              </a:rPr>
              <a:t>exposure to CEI</a:t>
            </a:r>
            <a:r>
              <a:rPr lang="es" sz="1250">
                <a:solidFill>
                  <a:schemeClr val="lt1"/>
                </a:solidFill>
              </a:rPr>
              <a:t> based on risk-return preferences.</a:t>
            </a:r>
            <a:endParaRPr sz="1600">
              <a:solidFill>
                <a:schemeClr val="l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nvSpPr>
        <p:spPr>
          <a:xfrm>
            <a:off x="175450" y="56400"/>
            <a:ext cx="6011400" cy="48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450">
                <a:solidFill>
                  <a:srgbClr val="FF0000"/>
                </a:solidFill>
              </a:rPr>
              <a:t>Adjusting CEI Risk Premium for Market Risk:        Is It Biased?</a:t>
            </a:r>
            <a:endParaRPr sz="1600">
              <a:solidFill>
                <a:srgbClr val="FF0000"/>
              </a:solidFill>
              <a:latin typeface="Roboto"/>
              <a:ea typeface="Roboto"/>
              <a:cs typeface="Roboto"/>
              <a:sym typeface="Roboto"/>
            </a:endParaRPr>
          </a:p>
        </p:txBody>
      </p:sp>
      <p:sp>
        <p:nvSpPr>
          <p:cNvPr id="175" name="Google Shape;175;p24"/>
          <p:cNvSpPr txBox="1"/>
          <p:nvPr/>
        </p:nvSpPr>
        <p:spPr>
          <a:xfrm>
            <a:off x="432625" y="536400"/>
            <a:ext cx="3520200" cy="48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b="1" lang="es" sz="1300">
                <a:solidFill>
                  <a:schemeClr val="dk2"/>
                </a:solidFill>
              </a:rPr>
              <a:t>Correlation Analysis</a:t>
            </a:r>
            <a:r>
              <a:rPr lang="es" sz="1300">
                <a:solidFill>
                  <a:schemeClr val="dk2"/>
                </a:solidFill>
              </a:rPr>
              <a:t>:</a:t>
            </a:r>
            <a:endParaRPr sz="1300">
              <a:solidFill>
                <a:schemeClr val="dk2"/>
              </a:solidFill>
            </a:endParaRPr>
          </a:p>
          <a:p>
            <a:pPr indent="0" lvl="0" marL="0" rtl="0" algn="l">
              <a:lnSpc>
                <a:spcPct val="115000"/>
              </a:lnSpc>
              <a:spcBef>
                <a:spcPts val="400"/>
              </a:spcBef>
              <a:spcAft>
                <a:spcPts val="0"/>
              </a:spcAft>
              <a:buNone/>
            </a:pPr>
            <a:r>
              <a:rPr b="1" lang="es" sz="900">
                <a:solidFill>
                  <a:srgbClr val="212121"/>
                </a:solidFill>
                <a:highlight>
                  <a:srgbClr val="FFFFFF"/>
                </a:highlight>
                <a:latin typeface="Courier New"/>
                <a:ea typeface="Courier New"/>
                <a:cs typeface="Courier New"/>
                <a:sym typeface="Courier New"/>
              </a:rPr>
              <a:t>0.763703490165299 </a:t>
            </a:r>
            <a:endParaRPr b="1" sz="900">
              <a:solidFill>
                <a:srgbClr val="21212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s" sz="900">
                <a:solidFill>
                  <a:srgbClr val="212121"/>
                </a:solidFill>
                <a:highlight>
                  <a:srgbClr val="FFFFFF"/>
                </a:highlight>
                <a:latin typeface="Courier New"/>
                <a:ea typeface="Courier New"/>
                <a:cs typeface="Courier New"/>
                <a:sym typeface="Courier New"/>
              </a:rPr>
              <a:t>p value of 6.117937288749957e-15</a:t>
            </a:r>
            <a:endParaRPr b="1" sz="1100">
              <a:solidFill>
                <a:srgbClr val="666666"/>
              </a:solidFill>
            </a:endParaRPr>
          </a:p>
          <a:p>
            <a:pPr indent="0" lvl="0" marL="0" rtl="0" algn="l">
              <a:lnSpc>
                <a:spcPct val="115000"/>
              </a:lnSpc>
              <a:spcBef>
                <a:spcPts val="1400"/>
              </a:spcBef>
              <a:spcAft>
                <a:spcPts val="0"/>
              </a:spcAft>
              <a:buNone/>
            </a:pPr>
            <a:r>
              <a:rPr lang="es" sz="1100">
                <a:solidFill>
                  <a:srgbClr val="666666"/>
                </a:solidFill>
              </a:rPr>
              <a:t>Interpretation:</a:t>
            </a:r>
            <a:endParaRPr sz="1100">
              <a:solidFill>
                <a:srgbClr val="666666"/>
              </a:solidFill>
            </a:endParaRPr>
          </a:p>
          <a:p>
            <a:pPr indent="0" lvl="0" marL="0" rtl="0" algn="l">
              <a:lnSpc>
                <a:spcPct val="115000"/>
              </a:lnSpc>
              <a:spcBef>
                <a:spcPts val="400"/>
              </a:spcBef>
              <a:spcAft>
                <a:spcPts val="0"/>
              </a:spcAft>
              <a:buNone/>
            </a:pPr>
            <a:r>
              <a:rPr lang="es" sz="1000"/>
              <a:t>The strong positive correlation and significant p-value suggest that the CEI risk premium and the market risk premium are closely related. </a:t>
            </a:r>
            <a:br>
              <a:rPr lang="es" sz="1000"/>
            </a:br>
            <a:r>
              <a:rPr lang="es" sz="1000"/>
              <a:t>Specifically:</a:t>
            </a:r>
            <a:endParaRPr sz="1000"/>
          </a:p>
          <a:p>
            <a:pPr indent="-292100" lvl="0" marL="457200" rtl="0" algn="l">
              <a:lnSpc>
                <a:spcPct val="115000"/>
              </a:lnSpc>
              <a:spcBef>
                <a:spcPts val="0"/>
              </a:spcBef>
              <a:spcAft>
                <a:spcPts val="0"/>
              </a:spcAft>
              <a:buSzPts val="1000"/>
              <a:buChar char="●"/>
            </a:pPr>
            <a:r>
              <a:rPr lang="es" sz="1000"/>
              <a:t>A significant portion of the variation in the CEI risk premium is explained by the market risk premium.</a:t>
            </a:r>
            <a:endParaRPr sz="1000"/>
          </a:p>
          <a:p>
            <a:pPr indent="-292100" lvl="0" marL="457200" rtl="0" algn="l">
              <a:lnSpc>
                <a:spcPct val="115000"/>
              </a:lnSpc>
              <a:spcBef>
                <a:spcPts val="0"/>
              </a:spcBef>
              <a:spcAft>
                <a:spcPts val="0"/>
              </a:spcAft>
              <a:buSzPts val="1000"/>
              <a:buChar char="●"/>
            </a:pPr>
            <a:r>
              <a:rPr lang="es" sz="1000"/>
              <a:t>The large difference between the non-adjusted CEI premium (0.0440) and the adjusted CEI premium (-7.71e-19) is explained by the fact that once market risk is accounted for, there is almost no independent effect of the CEI premium.</a:t>
            </a:r>
            <a:endParaRPr sz="1000"/>
          </a:p>
          <a:p>
            <a:pPr indent="0" lvl="0" marL="0" rtl="0" algn="l">
              <a:lnSpc>
                <a:spcPct val="115000"/>
              </a:lnSpc>
              <a:spcBef>
                <a:spcPts val="0"/>
              </a:spcBef>
              <a:spcAft>
                <a:spcPts val="0"/>
              </a:spcAft>
              <a:buNone/>
            </a:pPr>
            <a:r>
              <a:rPr lang="es" sz="1100">
                <a:solidFill>
                  <a:srgbClr val="666666"/>
                </a:solidFill>
              </a:rPr>
              <a:t>Conclusion:</a:t>
            </a:r>
            <a:endParaRPr sz="1100">
              <a:solidFill>
                <a:srgbClr val="666666"/>
              </a:solidFill>
            </a:endParaRPr>
          </a:p>
          <a:p>
            <a:pPr indent="-292100" lvl="0" marL="914400" rtl="0" algn="l">
              <a:lnSpc>
                <a:spcPct val="115000"/>
              </a:lnSpc>
              <a:spcBef>
                <a:spcPts val="0"/>
              </a:spcBef>
              <a:spcAft>
                <a:spcPts val="0"/>
              </a:spcAft>
              <a:buSzPts val="1000"/>
              <a:buAutoNum type="arabicPeriod"/>
            </a:pPr>
            <a:r>
              <a:rPr b="1" lang="es" sz="1000"/>
              <a:t>CEI and Market Risk are Strongly Correlated</a:t>
            </a:r>
            <a:r>
              <a:rPr lang="es" sz="1000"/>
              <a:t>: The correlation of 0.7637 shows that the CEI risk premium is heavily influenced by market risk.</a:t>
            </a:r>
            <a:endParaRPr sz="1000"/>
          </a:p>
          <a:p>
            <a:pPr indent="-292100" lvl="0" marL="914400" rtl="0" algn="l">
              <a:lnSpc>
                <a:spcPct val="115000"/>
              </a:lnSpc>
              <a:spcBef>
                <a:spcPts val="0"/>
              </a:spcBef>
              <a:spcAft>
                <a:spcPts val="0"/>
              </a:spcAft>
              <a:buSzPts val="1000"/>
              <a:buAutoNum type="arabicPeriod"/>
            </a:pPr>
            <a:r>
              <a:rPr b="1" lang="es" sz="1000"/>
              <a:t>CEI Premium is Mostly Explained by Market Risk:</a:t>
            </a:r>
            <a:r>
              <a:rPr lang="es" sz="1000"/>
              <a:t> most of the CEI premium was driven by market risk.</a:t>
            </a:r>
            <a:endParaRPr sz="1700">
              <a:solidFill>
                <a:schemeClr val="dk2"/>
              </a:solidFill>
              <a:latin typeface="Roboto"/>
              <a:ea typeface="Roboto"/>
              <a:cs typeface="Roboto"/>
              <a:sym typeface="Roboto"/>
            </a:endParaRPr>
          </a:p>
        </p:txBody>
      </p:sp>
      <p:pic>
        <p:nvPicPr>
          <p:cNvPr id="176" name="Google Shape;176;p24"/>
          <p:cNvPicPr preferRelativeResize="0"/>
          <p:nvPr/>
        </p:nvPicPr>
        <p:blipFill>
          <a:blip r:embed="rId3">
            <a:alphaModFix/>
          </a:blip>
          <a:stretch>
            <a:fillRect/>
          </a:stretch>
        </p:blipFill>
        <p:spPr>
          <a:xfrm>
            <a:off x="4572000" y="803400"/>
            <a:ext cx="4572001" cy="1597525"/>
          </a:xfrm>
          <a:prstGeom prst="rect">
            <a:avLst/>
          </a:prstGeom>
          <a:noFill/>
          <a:ln>
            <a:noFill/>
          </a:ln>
        </p:spPr>
      </p:pic>
      <p:sp>
        <p:nvSpPr>
          <p:cNvPr id="177" name="Google Shape;177;p24"/>
          <p:cNvSpPr txBox="1"/>
          <p:nvPr/>
        </p:nvSpPr>
        <p:spPr>
          <a:xfrm>
            <a:off x="4659950" y="456025"/>
            <a:ext cx="2812800" cy="44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400"/>
              </a:spcAft>
              <a:buNone/>
            </a:pPr>
            <a:r>
              <a:rPr lang="es">
                <a:solidFill>
                  <a:schemeClr val="lt1"/>
                </a:solidFill>
              </a:rPr>
              <a:t>Regression Analysis</a:t>
            </a:r>
            <a:endParaRPr sz="1800">
              <a:solidFill>
                <a:schemeClr val="lt1"/>
              </a:solidFill>
              <a:latin typeface="Roboto"/>
              <a:ea typeface="Roboto"/>
              <a:cs typeface="Roboto"/>
              <a:sym typeface="Roboto"/>
            </a:endParaRPr>
          </a:p>
        </p:txBody>
      </p:sp>
      <p:sp>
        <p:nvSpPr>
          <p:cNvPr id="178" name="Google Shape;178;p24"/>
          <p:cNvSpPr txBox="1"/>
          <p:nvPr/>
        </p:nvSpPr>
        <p:spPr>
          <a:xfrm>
            <a:off x="5326975" y="2505375"/>
            <a:ext cx="3705000" cy="17280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Clr>
                <a:schemeClr val="lt1"/>
              </a:buClr>
              <a:buSzPts val="900"/>
              <a:buChar char="●"/>
            </a:pPr>
            <a:r>
              <a:rPr b="1" lang="es" sz="900">
                <a:solidFill>
                  <a:schemeClr val="lt1"/>
                </a:solidFill>
              </a:rPr>
              <a:t>Market risk premium (MarketRP) has a strong and statistically significant impact on the CEI risk premium (CEI_RP)</a:t>
            </a:r>
            <a:r>
              <a:rPr lang="es" sz="900">
                <a:solidFill>
                  <a:schemeClr val="lt1"/>
                </a:solidFill>
              </a:rPr>
              <a:t>. T</a:t>
            </a:r>
            <a:r>
              <a:rPr b="1" lang="es" sz="900">
                <a:solidFill>
                  <a:schemeClr val="lt1"/>
                </a:solidFill>
              </a:rPr>
              <a:t>he coefficient for MarketRP (0.5568) is significant</a:t>
            </a:r>
            <a:r>
              <a:rPr lang="es" sz="900">
                <a:solidFill>
                  <a:schemeClr val="lt1"/>
                </a:solidFill>
              </a:rPr>
              <a:t>, with a very small p-value, indicating that market movements strongly influence the CEI premium.</a:t>
            </a:r>
            <a:endParaRPr sz="900">
              <a:solidFill>
                <a:schemeClr val="lt1"/>
              </a:solidFill>
            </a:endParaRPr>
          </a:p>
          <a:p>
            <a:pPr indent="0" lvl="0" marL="0" rtl="0" algn="l">
              <a:lnSpc>
                <a:spcPct val="115000"/>
              </a:lnSpc>
              <a:spcBef>
                <a:spcPts val="0"/>
              </a:spcBef>
              <a:spcAft>
                <a:spcPts val="0"/>
              </a:spcAft>
              <a:buNone/>
            </a:pPr>
            <a:r>
              <a:t/>
            </a:r>
            <a:endParaRPr sz="900">
              <a:solidFill>
                <a:schemeClr val="lt1"/>
              </a:solidFill>
            </a:endParaRPr>
          </a:p>
          <a:p>
            <a:pPr indent="-285750" lvl="0" marL="457200" rtl="0" algn="l">
              <a:lnSpc>
                <a:spcPct val="115000"/>
              </a:lnSpc>
              <a:spcBef>
                <a:spcPts val="0"/>
              </a:spcBef>
              <a:spcAft>
                <a:spcPts val="0"/>
              </a:spcAft>
              <a:buClr>
                <a:schemeClr val="lt1"/>
              </a:buClr>
              <a:buSzPts val="900"/>
              <a:buChar char="●"/>
            </a:pPr>
            <a:r>
              <a:rPr b="1" lang="es" sz="900">
                <a:solidFill>
                  <a:schemeClr val="lt1"/>
                </a:solidFill>
              </a:rPr>
              <a:t>Intercept is not significant</a:t>
            </a:r>
            <a:r>
              <a:rPr lang="es" sz="900">
                <a:solidFill>
                  <a:schemeClr val="lt1"/>
                </a:solidFill>
              </a:rPr>
              <a:t>: The intercept term is not significantly different from zero, meaning that when the market risk premium is zero, the CEI risk premium is also likely to be near zero.</a:t>
            </a:r>
            <a:endParaRPr sz="900">
              <a:solidFill>
                <a:schemeClr val="lt1"/>
              </a:solidFill>
            </a:endParaRPr>
          </a:p>
          <a:p>
            <a:pPr indent="0" lvl="0" marL="0" rtl="0" algn="l">
              <a:lnSpc>
                <a:spcPct val="115000"/>
              </a:lnSpc>
              <a:spcBef>
                <a:spcPts val="0"/>
              </a:spcBef>
              <a:spcAft>
                <a:spcPts val="0"/>
              </a:spcAft>
              <a:buNone/>
            </a:pPr>
            <a:r>
              <a:t/>
            </a:r>
            <a:endParaRPr sz="900">
              <a:solidFill>
                <a:schemeClr val="lt1"/>
              </a:solidFill>
            </a:endParaRPr>
          </a:p>
          <a:p>
            <a:pPr indent="-285750" lvl="0" marL="457200" rtl="0" algn="l">
              <a:lnSpc>
                <a:spcPct val="115000"/>
              </a:lnSpc>
              <a:spcBef>
                <a:spcPts val="0"/>
              </a:spcBef>
              <a:spcAft>
                <a:spcPts val="0"/>
              </a:spcAft>
              <a:buClr>
                <a:schemeClr val="lt1"/>
              </a:buClr>
              <a:buSzPts val="900"/>
              <a:buChar char="●"/>
            </a:pPr>
            <a:r>
              <a:rPr b="1" lang="es" sz="900">
                <a:solidFill>
                  <a:schemeClr val="lt1"/>
                </a:solidFill>
              </a:rPr>
              <a:t>Model fit</a:t>
            </a:r>
            <a:r>
              <a:rPr lang="es" sz="900">
                <a:solidFill>
                  <a:schemeClr val="lt1"/>
                </a:solidFill>
              </a:rPr>
              <a:t>: The model explains a significant portion of the variation in CEI_RP (</a:t>
            </a:r>
            <a:r>
              <a:rPr b="1" lang="es" sz="900">
                <a:solidFill>
                  <a:schemeClr val="lt1"/>
                </a:solidFill>
              </a:rPr>
              <a:t>R-squared = 0.583</a:t>
            </a:r>
            <a:r>
              <a:rPr lang="es" sz="900">
                <a:solidFill>
                  <a:schemeClr val="lt1"/>
                </a:solidFill>
              </a:rPr>
              <a:t>), indicating that the market risk premium is a key driver of CEI_RP.</a:t>
            </a:r>
            <a:endParaRPr sz="900">
              <a:solidFill>
                <a:schemeClr val="lt1"/>
              </a:solidFill>
            </a:endParaRPr>
          </a:p>
          <a:p>
            <a:pPr indent="0" lvl="0" marL="0" rtl="0" algn="l">
              <a:lnSpc>
                <a:spcPct val="115000"/>
              </a:lnSpc>
              <a:spcBef>
                <a:spcPts val="1600"/>
              </a:spcBef>
              <a:spcAft>
                <a:spcPts val="0"/>
              </a:spcAft>
              <a:buNone/>
            </a:pPr>
            <a:r>
              <a:t/>
            </a:r>
            <a:endParaRPr b="1" sz="1200">
              <a:solidFill>
                <a:schemeClr val="lt1"/>
              </a:solidFill>
            </a:endParaRPr>
          </a:p>
          <a:p>
            <a:pPr indent="0" lvl="0" marL="0" rtl="0" algn="l">
              <a:spcBef>
                <a:spcPts val="400"/>
              </a:spcBef>
              <a:spcAft>
                <a:spcPts val="0"/>
              </a:spcAft>
              <a:buNone/>
            </a:pPr>
            <a:r>
              <a:t/>
            </a:r>
            <a:endParaRPr sz="1600">
              <a:solidFill>
                <a:schemeClr val="lt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nvSpPr>
        <p:spPr>
          <a:xfrm>
            <a:off x="328150" y="344475"/>
            <a:ext cx="3986100" cy="194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200"/>
              <a:t>Adjusted CEI Risk Premium (as mean of residuals):</a:t>
            </a:r>
            <a:endParaRPr b="1" sz="1200"/>
          </a:p>
          <a:p>
            <a:pPr indent="0" lvl="0" marL="0" rtl="0" algn="l">
              <a:lnSpc>
                <a:spcPct val="115000"/>
              </a:lnSpc>
              <a:spcBef>
                <a:spcPts val="0"/>
              </a:spcBef>
              <a:spcAft>
                <a:spcPts val="0"/>
              </a:spcAft>
              <a:buNone/>
            </a:pPr>
            <a:r>
              <a:rPr lang="es" sz="1100"/>
              <a:t>The adjusted CEI mean is </a:t>
            </a:r>
            <a:r>
              <a:rPr b="1" lang="es" sz="1100"/>
              <a:t>extremely close to zero (-7.71e-19)</a:t>
            </a:r>
            <a:r>
              <a:rPr lang="es" sz="1100"/>
              <a:t>,the previous was 0.440.</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s" sz="1100"/>
              <a:t>It suggests that after accounting for market risk, the CEI risk premium has very little to no effect.</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s" sz="1100"/>
              <a:t>This implies that any effect the CEI premium initially</a:t>
            </a:r>
            <a:endParaRPr sz="1100"/>
          </a:p>
          <a:p>
            <a:pPr indent="0" lvl="0" marL="0" rtl="0" algn="l">
              <a:lnSpc>
                <a:spcPct val="115000"/>
              </a:lnSpc>
              <a:spcBef>
                <a:spcPts val="0"/>
              </a:spcBef>
              <a:spcAft>
                <a:spcPts val="0"/>
              </a:spcAft>
              <a:buNone/>
            </a:pPr>
            <a:r>
              <a:rPr lang="es" sz="1100"/>
              <a:t>seemed to have was mostly absorbed by the market risk.</a:t>
            </a:r>
            <a:endParaRPr b="1" sz="1300"/>
          </a:p>
          <a:p>
            <a:pPr indent="0" lvl="0" marL="0" rtl="0" algn="l">
              <a:lnSpc>
                <a:spcPct val="115000"/>
              </a:lnSpc>
              <a:spcBef>
                <a:spcPts val="0"/>
              </a:spcBef>
              <a:spcAft>
                <a:spcPts val="0"/>
              </a:spcAft>
              <a:buNone/>
            </a:pPr>
            <a:r>
              <a:t/>
            </a:r>
            <a:endParaRPr sz="1300"/>
          </a:p>
          <a:p>
            <a:pPr indent="0" lvl="0" marL="0" rtl="0" algn="l">
              <a:lnSpc>
                <a:spcPct val="115000"/>
              </a:lnSpc>
              <a:spcBef>
                <a:spcPts val="1600"/>
              </a:spcBef>
              <a:spcAft>
                <a:spcPts val="400"/>
              </a:spcAft>
              <a:buNone/>
            </a:pPr>
            <a:r>
              <a:t/>
            </a:r>
            <a:endParaRPr sz="2000">
              <a:solidFill>
                <a:schemeClr val="dk2"/>
              </a:solidFill>
              <a:latin typeface="Roboto"/>
              <a:ea typeface="Roboto"/>
              <a:cs typeface="Roboto"/>
              <a:sym typeface="Roboto"/>
            </a:endParaRPr>
          </a:p>
        </p:txBody>
      </p:sp>
      <p:sp>
        <p:nvSpPr>
          <p:cNvPr id="184" name="Google Shape;184;p25"/>
          <p:cNvSpPr txBox="1"/>
          <p:nvPr/>
        </p:nvSpPr>
        <p:spPr>
          <a:xfrm>
            <a:off x="5608275" y="86325"/>
            <a:ext cx="3367500" cy="505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chemeClr val="lt1"/>
                </a:solidFill>
              </a:rPr>
              <a:t>This strong link suggests that </a:t>
            </a:r>
            <a:r>
              <a:rPr b="1" lang="es" sz="1200">
                <a:solidFill>
                  <a:schemeClr val="lt1"/>
                </a:solidFill>
              </a:rPr>
              <a:t>much of what was initially considered CEI risk is actually driven by market risk.</a:t>
            </a:r>
            <a:endParaRPr b="1" sz="1200">
              <a:solidFill>
                <a:schemeClr val="lt1"/>
              </a:solidFill>
            </a:endParaRPr>
          </a:p>
          <a:p>
            <a:pPr indent="0" lvl="0" marL="0" rtl="0" algn="l">
              <a:lnSpc>
                <a:spcPct val="115000"/>
              </a:lnSpc>
              <a:spcBef>
                <a:spcPts val="0"/>
              </a:spcBef>
              <a:spcAft>
                <a:spcPts val="0"/>
              </a:spcAft>
              <a:buNone/>
            </a:pPr>
            <a:r>
              <a:rPr lang="es" sz="1200">
                <a:solidFill>
                  <a:schemeClr val="lt1"/>
                </a:solidFill>
              </a:rPr>
              <a:t>The next step might be to focus on the adjusted CEI risk premium, which isolates the part of the CEI premium that is independent of market risk.</a:t>
            </a:r>
            <a:endParaRPr sz="1100">
              <a:solidFill>
                <a:schemeClr val="lt1"/>
              </a:solidFill>
            </a:endParaRPr>
          </a:p>
          <a:p>
            <a:pPr indent="-314325" lvl="0" marL="457200" rtl="0" algn="l">
              <a:lnSpc>
                <a:spcPct val="115000"/>
              </a:lnSpc>
              <a:spcBef>
                <a:spcPts val="0"/>
              </a:spcBef>
              <a:spcAft>
                <a:spcPts val="0"/>
              </a:spcAft>
              <a:buClr>
                <a:schemeClr val="lt1"/>
              </a:buClr>
              <a:buSzPts val="1350"/>
              <a:buChar char="●"/>
            </a:pPr>
            <a:r>
              <a:rPr b="1" lang="es" sz="1350">
                <a:solidFill>
                  <a:schemeClr val="lt1"/>
                </a:solidFill>
              </a:rPr>
              <a:t>Market Risk Explains Most of the CEI Premium</a:t>
            </a:r>
            <a:r>
              <a:rPr lang="es" sz="1350">
                <a:solidFill>
                  <a:schemeClr val="lt1"/>
                </a:solidFill>
              </a:rPr>
              <a:t>: The strong correlation and significant regression results suggest that </a:t>
            </a:r>
            <a:r>
              <a:rPr b="1" lang="es" sz="1350">
                <a:solidFill>
                  <a:schemeClr val="lt1"/>
                </a:solidFill>
              </a:rPr>
              <a:t>most of the variation</a:t>
            </a:r>
            <a:r>
              <a:rPr lang="es" sz="1350">
                <a:solidFill>
                  <a:schemeClr val="lt1"/>
                </a:solidFill>
              </a:rPr>
              <a:t> in the </a:t>
            </a:r>
            <a:r>
              <a:rPr b="1" lang="es" sz="1350">
                <a:solidFill>
                  <a:schemeClr val="lt1"/>
                </a:solidFill>
              </a:rPr>
              <a:t>CEI risk premium</a:t>
            </a:r>
            <a:r>
              <a:rPr lang="es" sz="1350">
                <a:solidFill>
                  <a:schemeClr val="lt1"/>
                </a:solidFill>
              </a:rPr>
              <a:t> can be attributed to </a:t>
            </a:r>
            <a:r>
              <a:rPr b="1" lang="es" sz="1350">
                <a:solidFill>
                  <a:schemeClr val="lt1"/>
                </a:solidFill>
              </a:rPr>
              <a:t>market risk</a:t>
            </a:r>
            <a:r>
              <a:rPr lang="es" sz="1350">
                <a:solidFill>
                  <a:schemeClr val="lt1"/>
                </a:solidFill>
              </a:rPr>
              <a:t>.</a:t>
            </a:r>
            <a:endParaRPr sz="1350">
              <a:solidFill>
                <a:schemeClr val="lt1"/>
              </a:solidFill>
            </a:endParaRPr>
          </a:p>
          <a:p>
            <a:pPr indent="0" lvl="0" marL="457200" rtl="0" algn="l">
              <a:lnSpc>
                <a:spcPct val="115000"/>
              </a:lnSpc>
              <a:spcBef>
                <a:spcPts val="0"/>
              </a:spcBef>
              <a:spcAft>
                <a:spcPts val="0"/>
              </a:spcAft>
              <a:buNone/>
            </a:pPr>
            <a:r>
              <a:t/>
            </a:r>
            <a:endParaRPr sz="1350">
              <a:solidFill>
                <a:schemeClr val="lt1"/>
              </a:solidFill>
            </a:endParaRPr>
          </a:p>
          <a:p>
            <a:pPr indent="-314325" lvl="0" marL="457200" rtl="0" algn="l">
              <a:lnSpc>
                <a:spcPct val="115000"/>
              </a:lnSpc>
              <a:spcBef>
                <a:spcPts val="0"/>
              </a:spcBef>
              <a:spcAft>
                <a:spcPts val="0"/>
              </a:spcAft>
              <a:buClr>
                <a:schemeClr val="lt1"/>
              </a:buClr>
              <a:buSzPts val="1350"/>
              <a:buChar char="●"/>
            </a:pPr>
            <a:r>
              <a:rPr b="1" lang="es" sz="1350">
                <a:solidFill>
                  <a:schemeClr val="lt1"/>
                </a:solidFill>
              </a:rPr>
              <a:t>Initial CEI Premium Was Biased</a:t>
            </a:r>
            <a:r>
              <a:rPr lang="es" sz="1350">
                <a:solidFill>
                  <a:schemeClr val="lt1"/>
                </a:solidFill>
              </a:rPr>
              <a:t>: The </a:t>
            </a:r>
            <a:r>
              <a:rPr b="1" lang="es" sz="1350">
                <a:solidFill>
                  <a:schemeClr val="lt1"/>
                </a:solidFill>
              </a:rPr>
              <a:t>initial non-adjusted CEI premium</a:t>
            </a:r>
            <a:r>
              <a:rPr lang="es" sz="1350">
                <a:solidFill>
                  <a:schemeClr val="lt1"/>
                </a:solidFill>
              </a:rPr>
              <a:t> was likely </a:t>
            </a:r>
            <a:r>
              <a:rPr b="1" lang="es" sz="1350">
                <a:solidFill>
                  <a:schemeClr val="lt1"/>
                </a:solidFill>
              </a:rPr>
              <a:t>overstated</a:t>
            </a:r>
            <a:r>
              <a:rPr lang="es" sz="1350">
                <a:solidFill>
                  <a:schemeClr val="lt1"/>
                </a:solidFill>
              </a:rPr>
              <a:t> because it failed to account for the relationship with </a:t>
            </a:r>
            <a:r>
              <a:rPr b="1" lang="es" sz="1350">
                <a:solidFill>
                  <a:schemeClr val="lt1"/>
                </a:solidFill>
              </a:rPr>
              <a:t>market risk</a:t>
            </a:r>
            <a:r>
              <a:rPr lang="es" sz="1350">
                <a:solidFill>
                  <a:schemeClr val="lt1"/>
                </a:solidFill>
              </a:rPr>
              <a:t>.</a:t>
            </a:r>
            <a:endParaRPr sz="1350">
              <a:solidFill>
                <a:schemeClr val="lt1"/>
              </a:solidFill>
            </a:endParaRPr>
          </a:p>
          <a:p>
            <a:pPr indent="0" lvl="0" marL="0" rtl="0" algn="l">
              <a:spcBef>
                <a:spcPts val="0"/>
              </a:spcBef>
              <a:spcAft>
                <a:spcPts val="0"/>
              </a:spcAft>
              <a:buNone/>
            </a:pPr>
            <a:r>
              <a:t/>
            </a:r>
            <a:endParaRPr sz="1700">
              <a:solidFill>
                <a:schemeClr val="lt1"/>
              </a:solidFill>
              <a:latin typeface="Roboto"/>
              <a:ea typeface="Roboto"/>
              <a:cs typeface="Roboto"/>
              <a:sym typeface="Roboto"/>
            </a:endParaRPr>
          </a:p>
        </p:txBody>
      </p:sp>
      <p:pic>
        <p:nvPicPr>
          <p:cNvPr id="185" name="Google Shape;185;p25"/>
          <p:cNvPicPr preferRelativeResize="0"/>
          <p:nvPr/>
        </p:nvPicPr>
        <p:blipFill>
          <a:blip r:embed="rId3">
            <a:alphaModFix/>
          </a:blip>
          <a:stretch>
            <a:fillRect/>
          </a:stretch>
        </p:blipFill>
        <p:spPr>
          <a:xfrm>
            <a:off x="-47375" y="2288400"/>
            <a:ext cx="4619377" cy="2855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