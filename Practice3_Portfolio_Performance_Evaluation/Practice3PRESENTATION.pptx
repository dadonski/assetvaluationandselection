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80e2c51c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80e2c51c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80e2c51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80e2c51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80e2c51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80e2c51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80e2c51cd_2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80e2c51cd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080e2c51cd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080e2c51cd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80e2c51cd_2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080e2c51cd_2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80e2c51cd_2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80e2c51cd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80e2c51cd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080e2c51cd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80e2c51cd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080e2c51cd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80e2c51cd_2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80e2c51cd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80e2c51cd_2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080e2c51cd_2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80e2c51cd_2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80e2c51cd_2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80e2c51c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80e2c51c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623408" y="130070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EVALUATING ASSETS’ PERFORMANCE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5808625" y="3294575"/>
            <a:ext cx="2639400" cy="129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/>
            </a:br>
            <a:r>
              <a:rPr lang="es"/>
              <a:t>Ricards Bulavs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Aigars Hardijs Karulis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Eduardo Anfelli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Thaddeus da Silva Correa</a:t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339700" y="3051500"/>
            <a:ext cx="59709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>
                <a:solidFill>
                  <a:srgbClr val="0E0E0E"/>
                </a:solidFill>
              </a:rPr>
              <a:t>How does Berkshire Hathaway perform compared to index ETFs? </a:t>
            </a:r>
            <a:endParaRPr sz="14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s" sz="1450">
                <a:solidFill>
                  <a:srgbClr val="0E0E0E"/>
                </a:solidFill>
              </a:rPr>
            </a:br>
            <a:r>
              <a:rPr lang="es" sz="1450">
                <a:solidFill>
                  <a:srgbClr val="0E0E0E"/>
                </a:solidFill>
              </a:rPr>
              <a:t>And in an equally weighted portfolio?</a:t>
            </a:r>
            <a:endParaRPr sz="145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86550" y="700150"/>
            <a:ext cx="76881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Summary</a:t>
            </a:r>
            <a:endParaRPr/>
          </a:p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987800" y="552450"/>
            <a:ext cx="4686300" cy="40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Invesco QQQ Trust (QQQ)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Total replication (cash) ETF directly holding assets of the Nasdaq 100 Index.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Nasdaq 100 Index (top 100 non-financial companies listed on Nasdaq).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Expense Ratio (TER)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0.30%.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Vanguard Total World Stock ETF (VT)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Total replication (cash) ETF aiming to replicate the FTSE Global All-Cap Index.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SPDR S&amp;P 500 ETF Trust (SPY).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Expense Ratio (TER)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0.07%.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SPDR S&amp;P 500 ETF Trust (SPY)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Total replication (cash) ETF fully replicating the S&amp;P 500 Index.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S&amp;P 500 Index (directly tracked).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Expense Ratio (TER)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0.09%.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Berkshire Hathaway Inc. (BRK-B)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SPY (S&amp;P 500), due to substantial overlap with large-cap U.S. stocks.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571500" y="1606500"/>
            <a:ext cx="30861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This analysis focuses on the performance evaluation of three Cash Exchange-Traded Funds (ETFs)—Invesco QQQ Trust (QQQ), Vanguard Total World Stock ETF (VT), and SPDR S&amp;P 500 ETF Trust (SPY)—as well as Berkshire Hathaway Inc. (BRK-B). </a:t>
            </a:r>
            <a:b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evaluation period spans from July 1, 2008, to July 1, 2024, with a total of 192 monthly observations.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Question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150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s" sz="2050">
                <a:solidFill>
                  <a:schemeClr val="accent2"/>
                </a:solidFill>
              </a:rPr>
              <a:t>Download monthly data from January 2000 to July 2024 of three ETFs investing in stocks, Berkshire Hathaway Inc. (BRK-B) stock price, and the relevant risk-free rate. Describe the first, second, and third portfolio's investment strategy. Compute all measures of portfolio performance evaluation analysis (see Performance Measures below) for the portfolios and BRK-B. Compare across portfolios and to BRK-B.</a:t>
            </a:r>
            <a:endParaRPr sz="2450"/>
          </a:p>
        </p:txBody>
      </p:sp>
      <p:sp>
        <p:nvSpPr>
          <p:cNvPr id="88" name="Google Shape;88;p15"/>
          <p:cNvSpPr txBox="1"/>
          <p:nvPr/>
        </p:nvSpPr>
        <p:spPr>
          <a:xfrm>
            <a:off x="188175" y="82300"/>
            <a:ext cx="2057700" cy="4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212121"/>
                </a:solidFill>
              </a:rPr>
              <a:t>Portfolio Weights</a:t>
            </a:r>
            <a:endParaRPr sz="10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212121"/>
                </a:solidFill>
              </a:rPr>
              <a:t>Lowest-Risk Portfolio Weights</a:t>
            </a:r>
            <a:r>
              <a:rPr lang="es" sz="1050">
                <a:solidFill>
                  <a:srgbClr val="212121"/>
                </a:solidFill>
              </a:rPr>
              <a:t>:</a:t>
            </a:r>
            <a:endParaRPr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QQQ: </a:t>
            </a:r>
            <a:r>
              <a:rPr b="1" lang="es" sz="1050">
                <a:solidFill>
                  <a:srgbClr val="212121"/>
                </a:solidFill>
              </a:rPr>
              <a:t>2.0191</a:t>
            </a:r>
            <a:endParaRPr b="1"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VT: </a:t>
            </a:r>
            <a:r>
              <a:rPr b="1" lang="es" sz="1050">
                <a:solidFill>
                  <a:srgbClr val="212121"/>
                </a:solidFill>
              </a:rPr>
              <a:t>-1.0000</a:t>
            </a:r>
            <a:endParaRPr b="1"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SPY: </a:t>
            </a:r>
            <a:r>
              <a:rPr b="1" lang="es" sz="1050">
                <a:solidFill>
                  <a:srgbClr val="212121"/>
                </a:solidFill>
              </a:rPr>
              <a:t>-0.0191</a:t>
            </a:r>
            <a:endParaRPr b="1" sz="10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212121"/>
                </a:solidFill>
              </a:rPr>
              <a:t>Medium-Risk Portfolio Weights</a:t>
            </a:r>
            <a:r>
              <a:rPr lang="es" sz="1050">
                <a:solidFill>
                  <a:srgbClr val="212121"/>
                </a:solidFill>
              </a:rPr>
              <a:t>:</a:t>
            </a:r>
            <a:endParaRPr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QQQ: </a:t>
            </a:r>
            <a:r>
              <a:rPr b="1" lang="es" sz="1050">
                <a:solidFill>
                  <a:srgbClr val="212121"/>
                </a:solidFill>
              </a:rPr>
              <a:t>2.4115</a:t>
            </a:r>
            <a:endParaRPr b="1"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VT: </a:t>
            </a:r>
            <a:r>
              <a:rPr b="1" lang="es" sz="1050">
                <a:solidFill>
                  <a:srgbClr val="212121"/>
                </a:solidFill>
              </a:rPr>
              <a:t>-1.0000</a:t>
            </a:r>
            <a:endParaRPr b="1"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SPY: </a:t>
            </a:r>
            <a:r>
              <a:rPr b="1" lang="es" sz="1050">
                <a:solidFill>
                  <a:srgbClr val="212121"/>
                </a:solidFill>
              </a:rPr>
              <a:t>-0.4115</a:t>
            </a:r>
            <a:endParaRPr b="1" sz="1050">
              <a:solidFill>
                <a:srgbClr val="21212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21212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050"/>
              <a:buChar char="●"/>
            </a:pPr>
            <a:r>
              <a:rPr b="1" lang="es" sz="1050">
                <a:solidFill>
                  <a:srgbClr val="212121"/>
                </a:solidFill>
              </a:rPr>
              <a:t>Highest-Risk Portfolio Weights</a:t>
            </a:r>
            <a:r>
              <a:rPr lang="es" sz="1050">
                <a:solidFill>
                  <a:srgbClr val="212121"/>
                </a:solidFill>
              </a:rPr>
              <a:t>:</a:t>
            </a:r>
            <a:endParaRPr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QQQ: </a:t>
            </a:r>
            <a:r>
              <a:rPr b="1" lang="es" sz="1050">
                <a:solidFill>
                  <a:srgbClr val="212121"/>
                </a:solidFill>
              </a:rPr>
              <a:t>3</a:t>
            </a:r>
            <a:endParaRPr b="1"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VT: </a:t>
            </a:r>
            <a:r>
              <a:rPr b="1" lang="es" sz="1050">
                <a:solidFill>
                  <a:srgbClr val="212121"/>
                </a:solidFill>
              </a:rPr>
              <a:t>-1</a:t>
            </a:r>
            <a:endParaRPr b="1" sz="1050">
              <a:solidFill>
                <a:srgbClr val="212121"/>
              </a:solidFill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Char char="○"/>
            </a:pPr>
            <a:r>
              <a:rPr lang="es" sz="1050">
                <a:solidFill>
                  <a:srgbClr val="212121"/>
                </a:solidFill>
              </a:rPr>
              <a:t>SPY: </a:t>
            </a:r>
            <a:r>
              <a:rPr b="1" lang="es" sz="1050">
                <a:solidFill>
                  <a:srgbClr val="212121"/>
                </a:solidFill>
              </a:rPr>
              <a:t>-1</a:t>
            </a:r>
            <a:endParaRPr b="1" sz="105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729450" y="603425"/>
            <a:ext cx="76887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OUR 3 PORTFOLIOS PERFORMANCE (SR&gt;0)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229275" y="1149425"/>
            <a:ext cx="3737100" cy="3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Portfolio 2 (Medium-Risk):</a:t>
            </a:r>
            <a:endParaRPr b="1"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Mean Excess Return: 0.0134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Standard Deviation: 0.0777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Sharpe Ratio: 0.1720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P-value: 0.0091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Treynor's Ratio (RT): 0.0314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Jensen's Alpha (α): 0.0153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Information Ratio (IR): 0.2599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Information Ratio Benchmark (IRB):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0.3036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M2 Measure (M2): 0.0192</a:t>
            </a:r>
            <a:endParaRPr sz="10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0"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185850" y="1149425"/>
            <a:ext cx="3737100" cy="3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Portfolio 1 (Lowest-Risk):</a:t>
            </a:r>
            <a:endParaRPr b="1"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Mean Excess Return: 0.0114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Standard Deviation: 0.0713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Sharpe Ratio: 0.1600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P-value: 0.0139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Treynor's Ratio (RT): 0.0231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Jensen's Alpha (α): 0.0136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Information Ratio (IR): 0.2661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Information Ratio Benchmark (IRB):</a:t>
            </a:r>
            <a:b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0.3102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M2 Measure (M2): 0.0186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50"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5191625" y="1149425"/>
            <a:ext cx="3609900" cy="3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Portfolio 3 (Highest-Risk):</a:t>
            </a:r>
            <a:endParaRPr b="1"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Mean Excess Return: 0.0163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Standard Deviation: 0.0881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Sharpe Ratio: 0.1852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P-value: 0.0055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Treynor's Ratio (RT): 0.0473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Jensen's Alpha (α): 0.0179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Information Ratio (IR): 0.2531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Information Ratio Benchmark (IRB)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: 0.2946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- M2 Measure (M2): 0.0198</a:t>
            </a:r>
            <a:endParaRPr sz="1050"/>
          </a:p>
        </p:txBody>
      </p:sp>
      <p:sp>
        <p:nvSpPr>
          <p:cNvPr id="97" name="Google Shape;97;p16"/>
          <p:cNvSpPr txBox="1"/>
          <p:nvPr/>
        </p:nvSpPr>
        <p:spPr>
          <a:xfrm>
            <a:off x="2600200" y="40450"/>
            <a:ext cx="54591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p(S)=</a:t>
            </a:r>
            <a:r>
              <a:rPr lang="es" sz="1100">
                <a:solidFill>
                  <a:schemeClr val="dk2"/>
                </a:solidFill>
              </a:rPr>
              <a:t>min(0.01;1/192 = 0.00520) so 0.00520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7789125" y="3996900"/>
            <a:ext cx="11331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BRKB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0" y="869375"/>
            <a:ext cx="4759500" cy="3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127000" lvl="0" marL="12700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75862"/>
              <a:buFont typeface="Arial"/>
              <a:buNone/>
            </a:pP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Sharpe Ratio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0.0010, indicating almost no excess return per unit of risk.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75862"/>
              <a:buFont typeface="Arial"/>
              <a:buNone/>
            </a:pP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Sharpe Ratio T-Statistic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0.0140, with a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p-value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of 0.4944, suggesting no statistical significance.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75862"/>
              <a:buFont typeface="Arial"/>
              <a:buNone/>
            </a:pP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Beta (relative to SP500)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0.6617, implying lower sensitivity to market movements compared to the overall market.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75862"/>
              <a:buFont typeface="Arial"/>
              <a:buNone/>
            </a:pP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Jensen’s Alpha (α)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0.0030, indicating a small positive outperformance relative to expected returns based on its beta.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75862"/>
              <a:buFont typeface="Arial"/>
              <a:buNone/>
            </a:pP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Information Ratio (IR)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0.0662, showing limited ability to generate excess return relative to benchmark volatility.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ct val="75862"/>
              <a:buFont typeface="Arial"/>
              <a:buNone/>
            </a:pP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Information Ratio Benchmark (IRB)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0.0994, indicating slightly better performance relative to tracking error.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	•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M2 Measure (M2)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0.0105, indicating positive but modest risk-adjusted performance when compared to a market benchmark.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The extremely low T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reynor’s Ratio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for Berkshire Hathaway (8.28e-05) indicates that the stock provides very little return relative to the level of market risk (beta), suggesting poor compensation for the risk taken.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7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80675" y="3935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1. Risk and Volatility: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BRK-B has the </a:t>
            </a: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lowest standard deviation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(0.0541), indicating the least volatility among all assets, which implies a more stable return profile.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All three portfolios have higher volatility, with Portfolio 3 being the most volatile (0.0881). This increased risk is reflected in their composition, especially considering the heavy exposure to QQQ.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1363550" y="2492000"/>
            <a:ext cx="34323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2. Average Returns</a:t>
            </a:r>
            <a:endParaRPr sz="1275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The mean excess return </a:t>
            </a:r>
            <a:r>
              <a:rPr b="1"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for BRK-B is very low</a:t>
            </a:r>
            <a:r>
              <a:rPr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(0.000055) compared to all three portfolios, indicating that BRK-B has delivered relatively smaller returns above the risk-free rate.</a:t>
            </a:r>
            <a:endParaRPr sz="1275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Mean Excess Return:</a:t>
            </a:r>
            <a:endParaRPr sz="1275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Portfolios 1, 2, and 3 have progressively increasing returns, </a:t>
            </a:r>
            <a:r>
              <a:rPr b="1"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with Portfolio 3 showing the highest mean excess return (0.0163), </a:t>
            </a:r>
            <a:r>
              <a:rPr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especially</a:t>
            </a:r>
            <a:r>
              <a:rPr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due to the </a:t>
            </a:r>
            <a:r>
              <a:rPr b="1"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large weighting in QQQ</a:t>
            </a:r>
            <a:r>
              <a:rPr lang="es" sz="1275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75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4522450" y="231429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3. Sharpe Ratio: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BRK-B's Sharpe Ratio is </a:t>
            </a: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extremely low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(0.0010), suggesting that the risk-adjusted return is not favorable, especially compared to the three portfolios.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All three portfolios have higher Sharpe Ratios, with Portfolio 3 having the highest (0.1852). This indicates that, despite higher risk, these portfolios provide better compensation per unit of risk compared to BRK-B.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5711700" y="2337300"/>
            <a:ext cx="34323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4. Treynor's Ratio (RT):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BRK-B has a</a:t>
            </a: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lower Treynor's Ratio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(0.0010), implying a lower return per unit of market risk compared to the portfolios.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Portfolio 3 exhibits the highest Treynor's Ratio (0.0473), showing the best performance relative to its market exposure, which reflects a better return generation per unit of systematic risk.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80675" y="3935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5.Jensen's Alpha (α)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Jensen's Alpha  for BRK-B (0.0030) is positive, indicating some ability to generate returns above the benchmark.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However, all three portfolios have higher Jensen's Alpha values, with Portfolio 3 again leading at 0.0179. This suggests the portfolios have been more effective in outperforming the benchmark relative to their risk.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2741700" y="2485625"/>
            <a:ext cx="3660600" cy="28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6. Information Ratio and IRB: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BRK-B's Information Ratio  (0.0662) is lower compared to the portfolios, meaning that the excess returns relative to the benchmark are less efficient when considering tracking error.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Portfolios 1, 2, and 3 all have significantly higher Information Ratios and IRBs, with Portfolio 1 leading in IRB (0.3102). This suggests that these portfolios provide better risk-adjusted outperformance relative to the benchmark compared to BRK-B.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050"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5682525" y="3935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7.M2 Measure: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The M2 measure for BRK-B is 0.0105, which is lower compared to all three portfolios.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Portfolio 3, with the highest M2 measure of 0.0198, delivers the best risk-adjusted return when normalized to the risk of the benchmark, suggesting superior performance relative to the risk taken.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Berkshire Hathaway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has demonstrated a much more </a:t>
            </a: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conservative risk profile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, with a significantly lower standard deviation, but this has come at the cost of lower excess returns and poorer risk-adjusted performance metrics compared to the three constructed portfolios.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Portfolios 1, 2, and 3 have </a:t>
            </a: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progressively increasing returns and risk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, with Portfolio 3 showing the highest return and best performance across most risk-adjusted metrics (Sharpe, Treynor, Jensen's Alpha)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Portfolio 3, which is the most aggressive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, outperforms BRK-B significantly in terms of risk-adjusted returns, indicating that an investor willing to take on more risk could achieve better returns compared to Berkshire Hathaway's more conservative strategy.</a:t>
            </a:r>
            <a:endParaRPr sz="105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However, </a:t>
            </a:r>
            <a:r>
              <a:rPr b="1"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the negative weights (implying short positions) in VT and SPY for all three portfolios indicate a higher-risk strategy that is not suitable for all investors,</a:t>
            </a:r>
            <a:r>
              <a:rPr lang="e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especially those with lower risk tolerance like those favoring Berkshire Hathaway's more stable and diversified approach.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Question 2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2400262" y="14510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00"/>
              </a:spcBef>
              <a:spcAft>
                <a:spcPts val="7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750">
                <a:solidFill>
                  <a:schemeClr val="accent2"/>
                </a:solidFill>
              </a:rPr>
              <a:t>2. Create an equally weighted portfolio  ( same using the four assets (weight 1/4 to all). Analyze performance results. Compare the relative performance of this portfolio to the other four and BRK-B. </a:t>
            </a:r>
            <a:endParaRPr sz="205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01900" y="4565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EQUALLY WEIGHTED PORTFOLIO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115575" y="1211350"/>
            <a:ext cx="3994500" cy="3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203200" lvl="0" marL="203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4761"/>
              <a:buFont typeface="Arial"/>
              <a:buNone/>
            </a:pPr>
            <a:r>
              <a:rPr lang="e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Negative Treynor’s and Sharpe Ratios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Both the Treynor’s Ratio (-0.0008) and Sharpe Ratio (-0.0153) are negative, indicating that the equally weighted portfolio did not generate positive risk-adjusted returns.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4761"/>
              <a:buFont typeface="Arial"/>
              <a:buNone/>
            </a:pPr>
            <a:r>
              <a:rPr lang="e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2.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Slight Positive Jensen’s Alpha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Jensen’s Alpha (0.0033) suggests the portfolio outperformed its expected return based on beta, albeit slightly.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4761"/>
              <a:buFont typeface="Arial"/>
              <a:buNone/>
            </a:pPr>
            <a:r>
              <a:rPr lang="e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3.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Moderate Information Ratios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The IR (0.2291) and IRB (0.2609) show that the portfolio managed to deliver some excess return relative to benchmark volatility.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4572000" y="1091925"/>
            <a:ext cx="4508100" cy="3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3200" lvl="0" marL="203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4.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Negative Mean Return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The mean return of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-0.00073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shows that, on average, the portfolio underperformed the risk-free rate.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5.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Higher Kurtosis and Negative Skewness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The portfolio distribution has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negative skewness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(-0.5092) and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higher kurtosis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(3.7666), suggesting a tendency toward occasional extreme negative returns.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6.	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Non-Normal Distribution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JB P-value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(0.0081) indicates the return distribution deviates significantly from normality.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01900" y="4565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EQUALLY WEIGHTED PORTFOLIO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115575" y="1211350"/>
            <a:ext cx="3994500" cy="3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121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 Takeaways:</a:t>
            </a:r>
            <a:endParaRPr b="1" sz="1400">
              <a:solidFill>
                <a:srgbClr val="2121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121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equally weighted portfolio has shown underwhelming risk-adjusted performance, as highlighted by the negative Sharpe and Treynor Ratios.</a:t>
            </a:r>
            <a:endParaRPr sz="1200">
              <a:solidFill>
                <a:srgbClr val="2121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ourier New"/>
              <a:buChar char="●"/>
            </a:pPr>
            <a:r>
              <a:rPr lang="es" sz="1200">
                <a:solidFill>
                  <a:srgbClr val="2121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Its small positive </a:t>
            </a:r>
            <a:r>
              <a:rPr b="1" lang="es" sz="1200">
                <a:solidFill>
                  <a:srgbClr val="2121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Alpha</a:t>
            </a:r>
            <a:r>
              <a:rPr lang="es" sz="1200">
                <a:solidFill>
                  <a:srgbClr val="2121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s" sz="1200">
                <a:solidFill>
                  <a:srgbClr val="2121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M²</a:t>
            </a:r>
            <a:r>
              <a:rPr lang="es" sz="1200">
                <a:solidFill>
                  <a:srgbClr val="21212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suggest there is limited outperformance, but not enough to suggest that the portfolio is significantly beating the market or the benchmark.</a:t>
            </a:r>
            <a:endParaRPr sz="12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686425" y="1355225"/>
            <a:ext cx="3994500" cy="3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ourier New"/>
              <a:buChar char="●"/>
            </a:pP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Mean Return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-0.00073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, indicating a slight negative average excess return over the evaluation period.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ourier New"/>
              <a:buChar char="●"/>
            </a:pP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Standard Deviation (STD)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0.0477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, implying moderate risk/volatility.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ourier New"/>
              <a:buChar char="●"/>
            </a:pP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Skewness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-0.5092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, indicating a slight left-skew in returns distribution (more negative returns).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ourier New"/>
              <a:buChar char="●"/>
            </a:pP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Kurtosis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3.7666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, showing slightly more peakedness compared to a normal distribution, suggesting occasional extreme returns.</a:t>
            </a:r>
            <a:endParaRPr sz="14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Courier New"/>
              <a:buChar char="●"/>
            </a:pP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JB P-value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0.0081</a:t>
            </a:r>
            <a:r>
              <a:rPr lang="es" sz="14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, indicating the data does not follow a normal distribution at a 1% significance level.</a:t>
            </a:r>
            <a:endParaRPr b="1" sz="1400">
              <a:solidFill>
                <a:srgbClr val="21212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13" y="333000"/>
            <a:ext cx="8937775" cy="44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4183085" y="2510550"/>
            <a:ext cx="10152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