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comment1.xml" ContentType="application/vnd.openxmlformats-officedocument.presentationml.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comment2.xml" ContentType="application/vnd.openxmlformats-officedocument.presentationml.comments+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6858000" cy="9144000"/>
  <p:embeddedFontLst>
    <p:embeddedFont>
      <p:font typeface="Average" pitchFamily="2" charset="77"/>
      <p:regular r:id="rId11"/>
    </p:embeddedFont>
    <p:embeddedFont>
      <p:font typeface="Oswald" pitchFamily="2" charset="77"/>
      <p:regular r:id="rId12"/>
      <p:bold r:id="rId13"/>
    </p:embeddedFont>
    <p:embeddedFont>
      <p:font typeface="Roboto" panose="02000000000000000000" pitchFamily="2" charset="0"/>
      <p:regular r:id="rId14"/>
      <p:bold r:id="rId15"/>
      <p:italic r:id="rId16"/>
      <p:bold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FELIPE FERREIRA MACEDO MALHEIRO"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0"/>
    <p:restoredTop sz="94659"/>
  </p:normalViewPr>
  <p:slideViewPr>
    <p:cSldViewPr snapToGrid="0">
      <p:cViewPr varScale="1">
        <p:scale>
          <a:sx n="137" d="100"/>
          <a:sy n="137" d="100"/>
        </p:scale>
        <p:origin x="184" y="24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4-09-19T15:18:25.274" idx="1">
    <p:pos x="51" y="641"/>
    <p:text>Long-Only Portfolios
"In a long-only portfolio, we can only buy assets, not sell them short. This approach results in a more conservative efficient frontier. While it reduces risk through diversification, it might also limit returns since we can't capitalize on poorly performing assets."
Long and Short Portfolios
"Allowing both long and short positions shifts the efficient frontier outward. This means we can achieve higher returns for the same risk level. Shorting assets lets us hedge and reduce risk by exploiting negative correlations."
Restricted Portfolios (2 to 5 assets)
"When restricted to 2 to 5 assets, the efficient frontier shrinks. Limited diversification typically increases risk and reduces returns. With fewer assets, the portfolio relies heavily on their performance."</p:text>
  </p:cm>
</p:cmLst>
</file>

<file path=ppt/comments/comment2.xml><?xml version="1.0" encoding="utf-8"?>
<p:cmLst xmlns:a="http://schemas.openxmlformats.org/drawingml/2006/main" xmlns:r="http://schemas.openxmlformats.org/officeDocument/2006/relationships" xmlns:p="http://schemas.openxmlformats.org/presentationml/2006/main">
  <p:cm authorId="0" dt="2024-09-19T15:19:42.338" idx="2">
    <p:pos x="196" y="638"/>
    <p:text>The datas shows us a low correlation between BTC and stock indexes, its supports the argument that BTC is a diversifier. Because of this investors can use BTC to diversify their portifólio but they need to be alert with the high volatility of this asset</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027ec90fbf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027ec90fbf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027ec90fbf_0_3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027ec90fbf_0_3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027ec90fbf_0_3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3027ec90fbf_0_3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027ec90fbf_4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027ec90fbf_4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027ec90fbf_0_3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027ec90fbf_0_3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027ec90fbf_0_3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027ec90fbf_0_3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027ec90fbf_0_3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027ec90fbf_0_3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479962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413752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671258" y="990800"/>
            <a:ext cx="7801500" cy="1730100"/>
          </a:xfrm>
          <a:prstGeom prst="rect">
            <a:avLst/>
          </a:prstGeom>
        </p:spPr>
        <p:txBody>
          <a:bodyPr spcFirstLastPara="1" wrap="square" lIns="91425" tIns="91425" rIns="91425" bIns="91425" anchor="b" anchorCtr="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p2"/>
          <p:cNvSpPr txBox="1">
            <a:spLocks noGrp="1"/>
          </p:cNvSpPr>
          <p:nvPr>
            <p:ph type="subTitle" idx="1"/>
          </p:nvPr>
        </p:nvSpPr>
        <p:spPr>
          <a:xfrm>
            <a:off x="671250" y="3174876"/>
            <a:ext cx="78015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6" name="Google Shape;16;p2"/>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671250" y="2141250"/>
            <a:ext cx="7852200" cy="8610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9" name="Google Shape;19;p3"/>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3" name="Google Shape;23;p4"/>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6" name="Google Shape;26;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7" name="Google Shape;27;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8" name="Google Shape;28;p5"/>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1" name="Google Shape;31;p6"/>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4" name="Google Shape;34;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5" name="Google Shape;35;p7"/>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90250" y="526350"/>
            <a:ext cx="62271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38" name="Google Shape;38;p8"/>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s"/>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1" name="Google Shape;41;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2" name="Google Shape;42;p9"/>
          <p:cNvSpPr txBox="1">
            <a:spLocks noGrp="1"/>
          </p:cNvSpPr>
          <p:nvPr>
            <p:ph type="title"/>
          </p:nvPr>
        </p:nvSpPr>
        <p:spPr>
          <a:xfrm>
            <a:off x="265500" y="1081400"/>
            <a:ext cx="4045200" cy="1710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3" name="Google Shape;43;p9"/>
          <p:cNvSpPr txBox="1">
            <a:spLocks noGrp="1"/>
          </p:cNvSpPr>
          <p:nvPr>
            <p:ph type="subTitle" idx="1"/>
          </p:nvPr>
        </p:nvSpPr>
        <p:spPr>
          <a:xfrm>
            <a:off x="265500" y="28452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44" name="Google Shape;4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45" name="Google Shape;45;p9"/>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s"/>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6"/>
        <p:cNvGrpSpPr/>
        <p:nvPr/>
      </p:nvGrpSpPr>
      <p:grpSpPr>
        <a:xfrm>
          <a:off x="0" y="0"/>
          <a:ext cx="0" cy="0"/>
          <a:chOff x="0" y="0"/>
          <a:chExt cx="0" cy="0"/>
        </a:xfrm>
      </p:grpSpPr>
      <p:sp>
        <p:nvSpPr>
          <p:cNvPr id="47" name="Google Shape;47;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a:endParaRPr/>
          </a:p>
        </p:txBody>
      </p:sp>
      <p:sp>
        <p:nvSpPr>
          <p:cNvPr id="48" name="Google Shape;48;p10"/>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9"/>
        <p:cNvGrpSpPr/>
        <p:nvPr/>
      </p:nvGrpSpPr>
      <p:grpSpPr>
        <a:xfrm>
          <a:off x="0" y="0"/>
          <a:ext cx="0" cy="0"/>
          <a:chOff x="0" y="0"/>
          <a:chExt cx="0" cy="0"/>
        </a:xfrm>
      </p:grpSpPr>
      <p:sp>
        <p:nvSpPr>
          <p:cNvPr id="50" name="Google Shape;50;p11"/>
          <p:cNvSpPr txBox="1">
            <a:spLocks noGrp="1"/>
          </p:cNvSpPr>
          <p:nvPr>
            <p:ph type="title" hasCustomPrompt="1"/>
          </p:nvPr>
        </p:nvSpPr>
        <p:spPr>
          <a:xfrm>
            <a:off x="311700" y="1255275"/>
            <a:ext cx="8520600" cy="18906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a:spLocks noGrp="1"/>
          </p:cNvSpPr>
          <p:nvPr>
            <p:ph type="body" idx="1"/>
          </p:nvPr>
        </p:nvSpPr>
        <p:spPr>
          <a:xfrm>
            <a:off x="311700" y="32284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2" name="Google Shape;52;p11"/>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at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marL="914400" lvl="1"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marL="1371600" lvl="2"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marL="1828800" lvl="3"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marL="2286000" lvl="4"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marL="2743200" lvl="5"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marL="3200400" lvl="6"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marL="3657600" lvl="7"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marL="4114800" lvl="8" indent="-3175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a:endParaRPr/>
          </a:p>
        </p:txBody>
      </p:sp>
      <p:sp>
        <p:nvSpPr>
          <p:cNvPr id="8" name="Google Shape;8;p1"/>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es"/>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3"/>
          <p:cNvSpPr txBox="1">
            <a:spLocks noGrp="1"/>
          </p:cNvSpPr>
          <p:nvPr>
            <p:ph type="ctrTitle"/>
          </p:nvPr>
        </p:nvSpPr>
        <p:spPr>
          <a:xfrm>
            <a:off x="671250" y="697975"/>
            <a:ext cx="7801500" cy="20232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s"/>
              <a:t>Analysis of Portfolios and Diversification with Bitcoin</a:t>
            </a:r>
            <a:endParaRPr/>
          </a:p>
        </p:txBody>
      </p:sp>
      <p:sp>
        <p:nvSpPr>
          <p:cNvPr id="60" name="Google Shape;60;p13"/>
          <p:cNvSpPr txBox="1"/>
          <p:nvPr/>
        </p:nvSpPr>
        <p:spPr>
          <a:xfrm>
            <a:off x="772000" y="3612425"/>
            <a:ext cx="6952500" cy="1245600"/>
          </a:xfrm>
          <a:prstGeom prst="rect">
            <a:avLst/>
          </a:prstGeom>
          <a:noFill/>
          <a:ln>
            <a:noFill/>
          </a:ln>
        </p:spPr>
        <p:txBody>
          <a:bodyPr spcFirstLastPara="1" wrap="square" lIns="91425" tIns="91425" rIns="91425" bIns="91425" anchor="t" anchorCtr="0">
            <a:noAutofit/>
          </a:bodyPr>
          <a:lstStyle/>
          <a:p>
            <a:pPr marL="0" lvl="0" indent="0" algn="l" rtl="0">
              <a:lnSpc>
                <a:spcPct val="120000"/>
              </a:lnSpc>
              <a:spcBef>
                <a:spcPts val="0"/>
              </a:spcBef>
              <a:spcAft>
                <a:spcPts val="0"/>
              </a:spcAft>
              <a:buNone/>
            </a:pPr>
            <a:r>
              <a:rPr lang="es" sz="1700" b="1">
                <a:solidFill>
                  <a:srgbClr val="1D2125"/>
                </a:solidFill>
                <a:latin typeface="Roboto"/>
                <a:ea typeface="Roboto"/>
                <a:cs typeface="Roboto"/>
                <a:sym typeface="Roboto"/>
              </a:rPr>
              <a:t>EDOARDO ANFELLI</a:t>
            </a:r>
            <a:r>
              <a:rPr lang="es" sz="1800">
                <a:solidFill>
                  <a:schemeClr val="accent3"/>
                </a:solidFill>
                <a:latin typeface="Average"/>
                <a:ea typeface="Average"/>
                <a:cs typeface="Average"/>
                <a:sym typeface="Average"/>
              </a:rPr>
              <a:t>,</a:t>
            </a:r>
            <a:endParaRPr sz="1800">
              <a:solidFill>
                <a:schemeClr val="accent3"/>
              </a:solidFill>
              <a:latin typeface="Average"/>
              <a:ea typeface="Average"/>
              <a:cs typeface="Average"/>
              <a:sym typeface="Average"/>
            </a:endParaRPr>
          </a:p>
          <a:p>
            <a:pPr marL="0" lvl="0" indent="0" algn="l" rtl="0">
              <a:lnSpc>
                <a:spcPct val="120000"/>
              </a:lnSpc>
              <a:spcBef>
                <a:spcPts val="0"/>
              </a:spcBef>
              <a:spcAft>
                <a:spcPts val="0"/>
              </a:spcAft>
              <a:buNone/>
            </a:pPr>
            <a:r>
              <a:rPr lang="es" sz="1700" b="1">
                <a:solidFill>
                  <a:srgbClr val="1D2125"/>
                </a:solidFill>
                <a:latin typeface="Roboto"/>
                <a:ea typeface="Roboto"/>
                <a:cs typeface="Roboto"/>
                <a:sym typeface="Roboto"/>
              </a:rPr>
              <a:t>THADDEUS DA SILVA CORREA</a:t>
            </a:r>
            <a:r>
              <a:rPr lang="es" sz="1800">
                <a:solidFill>
                  <a:schemeClr val="accent3"/>
                </a:solidFill>
                <a:latin typeface="Average"/>
                <a:ea typeface="Average"/>
                <a:cs typeface="Average"/>
                <a:sym typeface="Average"/>
              </a:rPr>
              <a:t>,</a:t>
            </a:r>
            <a:endParaRPr sz="1800">
              <a:solidFill>
                <a:schemeClr val="accent3"/>
              </a:solidFill>
              <a:latin typeface="Average"/>
              <a:ea typeface="Average"/>
              <a:cs typeface="Average"/>
              <a:sym typeface="Average"/>
            </a:endParaRPr>
          </a:p>
          <a:p>
            <a:pPr marL="0" lvl="0" indent="0" algn="l" rtl="0">
              <a:lnSpc>
                <a:spcPct val="120000"/>
              </a:lnSpc>
              <a:spcBef>
                <a:spcPts val="0"/>
              </a:spcBef>
              <a:spcAft>
                <a:spcPts val="0"/>
              </a:spcAft>
              <a:buNone/>
            </a:pPr>
            <a:r>
              <a:rPr lang="es" sz="1700" b="1">
                <a:solidFill>
                  <a:srgbClr val="1D2125"/>
                </a:solidFill>
                <a:latin typeface="Roboto"/>
                <a:ea typeface="Roboto"/>
                <a:cs typeface="Roboto"/>
                <a:sym typeface="Roboto"/>
              </a:rPr>
              <a:t>FELIPE FERREIRA MACEDO MALHEIRO</a:t>
            </a:r>
            <a:endParaRPr sz="1700" b="1">
              <a:solidFill>
                <a:srgbClr val="1D2125"/>
              </a:solidFill>
              <a:latin typeface="Roboto"/>
              <a:ea typeface="Roboto"/>
              <a:cs typeface="Roboto"/>
              <a:sym typeface="Roboto"/>
            </a:endParaRPr>
          </a:p>
          <a:p>
            <a:pPr marL="0" lvl="0" indent="0" algn="l" rtl="0">
              <a:lnSpc>
                <a:spcPct val="120000"/>
              </a:lnSpc>
              <a:spcBef>
                <a:spcPts val="0"/>
              </a:spcBef>
              <a:spcAft>
                <a:spcPts val="0"/>
              </a:spcAft>
              <a:buNone/>
            </a:pPr>
            <a:endParaRPr sz="1800">
              <a:solidFill>
                <a:schemeClr val="accent3"/>
              </a:solidFill>
              <a:latin typeface="Average"/>
              <a:ea typeface="Average"/>
              <a:cs typeface="Average"/>
              <a:sym typeface="Average"/>
            </a:endParaRPr>
          </a:p>
          <a:p>
            <a:pPr marL="0" lvl="0" indent="0" algn="l" rtl="0">
              <a:lnSpc>
                <a:spcPct val="120000"/>
              </a:lnSpc>
              <a:spcBef>
                <a:spcPts val="0"/>
              </a:spcBef>
              <a:spcAft>
                <a:spcPts val="0"/>
              </a:spcAft>
              <a:buNone/>
            </a:pPr>
            <a:endParaRPr sz="1800">
              <a:solidFill>
                <a:schemeClr val="accent3"/>
              </a:solidFill>
              <a:latin typeface="Average"/>
              <a:ea typeface="Average"/>
              <a:cs typeface="Average"/>
              <a:sym typeface="Averag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Introduction and objectives</a:t>
            </a:r>
            <a:endParaRPr/>
          </a:p>
        </p:txBody>
      </p:sp>
      <p:sp>
        <p:nvSpPr>
          <p:cNvPr id="66" name="Google Shape;66;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s" sz="1200" b="1">
                <a:solidFill>
                  <a:schemeClr val="dk1"/>
                </a:solidFill>
              </a:rPr>
              <a:t>Objective:</a:t>
            </a:r>
            <a:r>
              <a:rPr lang="es" sz="1200">
                <a:solidFill>
                  <a:schemeClr val="dk1"/>
                </a:solidFill>
              </a:rPr>
              <a:t> Analyze the performance of Bitcoin (BTC) and its role in portfolio diversification and as an inflation hedge.</a:t>
            </a:r>
            <a:endParaRPr sz="1200">
              <a:solidFill>
                <a:schemeClr val="dk1"/>
              </a:solidFill>
            </a:endParaRPr>
          </a:p>
          <a:p>
            <a:pPr marL="0" lvl="0" indent="0" algn="l" rtl="0">
              <a:spcBef>
                <a:spcPts val="1200"/>
              </a:spcBef>
              <a:spcAft>
                <a:spcPts val="0"/>
              </a:spcAft>
              <a:buClr>
                <a:schemeClr val="dk1"/>
              </a:buClr>
              <a:buSzPts val="1100"/>
              <a:buFont typeface="Arial"/>
              <a:buNone/>
            </a:pPr>
            <a:r>
              <a:rPr lang="es" b="1">
                <a:solidFill>
                  <a:srgbClr val="FF9900"/>
                </a:solidFill>
              </a:rPr>
              <a:t>Questions:</a:t>
            </a:r>
            <a:endParaRPr b="1">
              <a:solidFill>
                <a:srgbClr val="FF9900"/>
              </a:solidFill>
            </a:endParaRPr>
          </a:p>
          <a:p>
            <a:pPr marL="457200" lvl="0" indent="-342900" algn="l" rtl="0">
              <a:spcBef>
                <a:spcPts val="1200"/>
              </a:spcBef>
              <a:spcAft>
                <a:spcPts val="0"/>
              </a:spcAft>
              <a:buClr>
                <a:schemeClr val="dk1"/>
              </a:buClr>
              <a:buSzPts val="1800"/>
              <a:buAutoNum type="arabicPeriod"/>
            </a:pPr>
            <a:r>
              <a:rPr lang="es">
                <a:solidFill>
                  <a:schemeClr val="dk1"/>
                </a:solidFill>
              </a:rPr>
              <a:t>What are the characteristics of BTC excess monthly returns?</a:t>
            </a:r>
            <a:endParaRPr>
              <a:solidFill>
                <a:schemeClr val="dk1"/>
              </a:solidFill>
            </a:endParaRPr>
          </a:p>
          <a:p>
            <a:pPr marL="457200" lvl="0" indent="-342900" algn="l" rtl="0">
              <a:spcBef>
                <a:spcPts val="0"/>
              </a:spcBef>
              <a:spcAft>
                <a:spcPts val="0"/>
              </a:spcAft>
              <a:buClr>
                <a:schemeClr val="dk1"/>
              </a:buClr>
              <a:buSzPts val="1800"/>
              <a:buAutoNum type="arabicPeriod"/>
            </a:pPr>
            <a:r>
              <a:rPr lang="es">
                <a:solidFill>
                  <a:schemeClr val="dk1"/>
                </a:solidFill>
              </a:rPr>
              <a:t>Is BTC a hedge against U.S. inflation (2014-2024)?</a:t>
            </a:r>
            <a:endParaRPr>
              <a:solidFill>
                <a:schemeClr val="dk1"/>
              </a:solidFill>
            </a:endParaRPr>
          </a:p>
          <a:p>
            <a:pPr marL="457200" lvl="0" indent="-342900" algn="l" rtl="0">
              <a:spcBef>
                <a:spcPts val="0"/>
              </a:spcBef>
              <a:spcAft>
                <a:spcPts val="0"/>
              </a:spcAft>
              <a:buClr>
                <a:schemeClr val="dk1"/>
              </a:buClr>
              <a:buSzPts val="1800"/>
              <a:buAutoNum type="arabicPeriod"/>
            </a:pPr>
            <a:r>
              <a:rPr lang="es">
                <a:solidFill>
                  <a:schemeClr val="dk1"/>
                </a:solidFill>
              </a:rPr>
              <a:t>How do portfolios perform under different constraints </a:t>
            </a:r>
            <a:br>
              <a:rPr lang="es">
                <a:solidFill>
                  <a:schemeClr val="dk1"/>
                </a:solidFill>
              </a:rPr>
            </a:br>
            <a:r>
              <a:rPr lang="es">
                <a:solidFill>
                  <a:schemeClr val="dk1"/>
                </a:solidFill>
              </a:rPr>
              <a:t>(long-only, long-short, restricted 2-5 assets)?</a:t>
            </a:r>
            <a:endParaRPr>
              <a:solidFill>
                <a:schemeClr val="dk1"/>
              </a:solidFill>
            </a:endParaRPr>
          </a:p>
          <a:p>
            <a:pPr marL="457200" lvl="0" indent="-342900" algn="l" rtl="0">
              <a:spcBef>
                <a:spcPts val="0"/>
              </a:spcBef>
              <a:spcAft>
                <a:spcPts val="0"/>
              </a:spcAft>
              <a:buClr>
                <a:schemeClr val="dk1"/>
              </a:buClr>
              <a:buSzPts val="1800"/>
              <a:buAutoNum type="arabicPeriod"/>
            </a:pPr>
            <a:r>
              <a:rPr lang="es">
                <a:solidFill>
                  <a:schemeClr val="dk1"/>
                </a:solidFill>
              </a:rPr>
              <a:t>Does BTC diversify stock market risk?</a:t>
            </a:r>
            <a:endParaRPr>
              <a:solidFill>
                <a:schemeClr val="dk1"/>
              </a:solidFill>
            </a:endParaRPr>
          </a:p>
          <a:p>
            <a:pPr marL="0" lvl="0" indent="0" algn="l" rtl="0">
              <a:spcBef>
                <a:spcPts val="1200"/>
              </a:spcBef>
              <a:spcAft>
                <a:spcPts val="120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title"/>
          </p:nvPr>
        </p:nvSpPr>
        <p:spPr>
          <a:xfrm>
            <a:off x="181450" y="2496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BTC Excess Monthly Returns &amp; Inflation Hedge </a:t>
            </a:r>
            <a:endParaRPr/>
          </a:p>
        </p:txBody>
      </p:sp>
      <p:sp>
        <p:nvSpPr>
          <p:cNvPr id="72" name="Google Shape;72;p15"/>
          <p:cNvSpPr txBox="1">
            <a:spLocks noGrp="1"/>
          </p:cNvSpPr>
          <p:nvPr>
            <p:ph type="body" idx="1"/>
          </p:nvPr>
        </p:nvSpPr>
        <p:spPr>
          <a:xfrm>
            <a:off x="311700" y="947425"/>
            <a:ext cx="8520600" cy="2760900"/>
          </a:xfrm>
          <a:prstGeom prst="rect">
            <a:avLst/>
          </a:prstGeom>
        </p:spPr>
        <p:txBody>
          <a:bodyPr spcFirstLastPara="1" wrap="square" lIns="91425" tIns="91425" rIns="91425" bIns="91425" anchor="t" anchorCtr="0">
            <a:normAutofit fontScale="77500" lnSpcReduction="20000"/>
          </a:bodyPr>
          <a:lstStyle/>
          <a:p>
            <a:pPr marL="0" lvl="0" indent="0" algn="l" rtl="0">
              <a:spcBef>
                <a:spcPts val="0"/>
              </a:spcBef>
              <a:spcAft>
                <a:spcPts val="0"/>
              </a:spcAft>
              <a:buClr>
                <a:schemeClr val="dk1"/>
              </a:buClr>
              <a:buSzPct val="100000"/>
              <a:buFont typeface="Arial"/>
              <a:buNone/>
            </a:pPr>
            <a:r>
              <a:rPr lang="es" sz="1100" b="1">
                <a:solidFill>
                  <a:schemeClr val="dk1"/>
                </a:solidFill>
              </a:rPr>
              <a:t>1-Basic Characteristics of BTC Returns (all monthly datas):</a:t>
            </a:r>
            <a:endParaRPr sz="1100" b="1">
              <a:solidFill>
                <a:schemeClr val="dk1"/>
              </a:solidFill>
            </a:endParaRPr>
          </a:p>
          <a:p>
            <a:pPr marL="457200" lvl="0" indent="-282733" algn="l" rtl="0">
              <a:spcBef>
                <a:spcPts val="1200"/>
              </a:spcBef>
              <a:spcAft>
                <a:spcPts val="0"/>
              </a:spcAft>
              <a:buClr>
                <a:schemeClr val="dk1"/>
              </a:buClr>
              <a:buSzPct val="100000"/>
              <a:buChar char="●"/>
            </a:pPr>
            <a:r>
              <a:rPr lang="es" sz="1100">
                <a:solidFill>
                  <a:schemeClr val="dk1"/>
                </a:solidFill>
              </a:rPr>
              <a:t>High volatility (standard deviation of 20%).</a:t>
            </a:r>
            <a:endParaRPr sz="1100">
              <a:solidFill>
                <a:schemeClr val="dk1"/>
              </a:solidFill>
            </a:endParaRPr>
          </a:p>
          <a:p>
            <a:pPr marL="457200" lvl="0" indent="-282733" algn="l" rtl="0">
              <a:spcBef>
                <a:spcPts val="0"/>
              </a:spcBef>
              <a:spcAft>
                <a:spcPts val="0"/>
              </a:spcAft>
              <a:buClr>
                <a:schemeClr val="dk1"/>
              </a:buClr>
              <a:buSzPct val="100000"/>
              <a:buChar char="●"/>
            </a:pPr>
            <a:r>
              <a:rPr lang="es" sz="1100">
                <a:solidFill>
                  <a:schemeClr val="dk1"/>
                </a:solidFill>
              </a:rPr>
              <a:t>Average excess monthly return: -3%. </a:t>
            </a:r>
            <a:endParaRPr sz="1100">
              <a:solidFill>
                <a:schemeClr val="dk1"/>
              </a:solidFill>
            </a:endParaRPr>
          </a:p>
          <a:p>
            <a:pPr marL="457200" lvl="0" indent="-282733" algn="l" rtl="0">
              <a:spcBef>
                <a:spcPts val="0"/>
              </a:spcBef>
              <a:spcAft>
                <a:spcPts val="0"/>
              </a:spcAft>
              <a:buClr>
                <a:schemeClr val="dk1"/>
              </a:buClr>
              <a:buSzPct val="100000"/>
              <a:buChar char="●"/>
            </a:pPr>
            <a:r>
              <a:rPr lang="es" sz="1100">
                <a:solidFill>
                  <a:schemeClr val="dk1"/>
                </a:solidFill>
              </a:rPr>
              <a:t>Negative Sharpe Ratio (r-rf/std)</a:t>
            </a:r>
            <a:endParaRPr sz="1100">
              <a:solidFill>
                <a:schemeClr val="dk1"/>
              </a:solidFill>
            </a:endParaRPr>
          </a:p>
          <a:p>
            <a:pPr marL="457200" lvl="0" indent="-282733" algn="l" rtl="0">
              <a:spcBef>
                <a:spcPts val="0"/>
              </a:spcBef>
              <a:spcAft>
                <a:spcPts val="0"/>
              </a:spcAft>
              <a:buClr>
                <a:schemeClr val="dk1"/>
              </a:buClr>
              <a:buSzPct val="100000"/>
              <a:buChar char="●"/>
            </a:pPr>
            <a:r>
              <a:rPr lang="es" sz="1100">
                <a:solidFill>
                  <a:schemeClr val="dk1"/>
                </a:solidFill>
              </a:rPr>
              <a:t>Extreme Loss: -41%, Extreme Profit: 60%.</a:t>
            </a:r>
            <a:endParaRPr sz="1100">
              <a:solidFill>
                <a:schemeClr val="dk1"/>
              </a:solidFill>
            </a:endParaRPr>
          </a:p>
          <a:p>
            <a:pPr marL="457200" lvl="0" indent="-282733" algn="l" rtl="0">
              <a:spcBef>
                <a:spcPts val="0"/>
              </a:spcBef>
              <a:spcAft>
                <a:spcPts val="0"/>
              </a:spcAft>
              <a:buClr>
                <a:schemeClr val="dk1"/>
              </a:buClr>
              <a:buSzPct val="100000"/>
              <a:buChar char="●"/>
            </a:pPr>
            <a:r>
              <a:rPr lang="es" sz="1100">
                <a:solidFill>
                  <a:schemeClr val="dk1"/>
                </a:solidFill>
              </a:rPr>
              <a:t>Positive skewness and high kurtosis, indicating extreme events.</a:t>
            </a:r>
            <a:endParaRPr sz="1100">
              <a:solidFill>
                <a:schemeClr val="dk1"/>
              </a:solidFill>
            </a:endParaRPr>
          </a:p>
          <a:p>
            <a:pPr marL="457200" lvl="0" indent="-282733" algn="l" rtl="0">
              <a:lnSpc>
                <a:spcPct val="150000"/>
              </a:lnSpc>
              <a:spcBef>
                <a:spcPts val="0"/>
              </a:spcBef>
              <a:spcAft>
                <a:spcPts val="0"/>
              </a:spcAft>
              <a:buClr>
                <a:schemeClr val="dk1"/>
              </a:buClr>
              <a:buSzPct val="104761"/>
              <a:buChar char="●"/>
            </a:pPr>
            <a:r>
              <a:rPr lang="es" sz="1050">
                <a:solidFill>
                  <a:schemeClr val="dk1"/>
                </a:solidFill>
                <a:latin typeface="Arial"/>
                <a:ea typeface="Arial"/>
                <a:cs typeface="Arial"/>
                <a:sym typeface="Arial"/>
              </a:rPr>
              <a:t>The Jarque-Bera p-value of 0.01 , we accept normality because</a:t>
            </a:r>
            <a:br>
              <a:rPr lang="es" sz="1050">
                <a:solidFill>
                  <a:schemeClr val="dk1"/>
                </a:solidFill>
                <a:latin typeface="Arial"/>
                <a:ea typeface="Arial"/>
                <a:cs typeface="Arial"/>
                <a:sym typeface="Arial"/>
              </a:rPr>
            </a:br>
            <a:r>
              <a:rPr lang="es" sz="1050">
                <a:solidFill>
                  <a:schemeClr val="dk1"/>
                </a:solidFill>
                <a:latin typeface="Arial"/>
                <a:ea typeface="Arial"/>
                <a:cs typeface="Arial"/>
                <a:sym typeface="Arial"/>
              </a:rPr>
              <a:t> &gt;significance level (1/117)</a:t>
            </a:r>
            <a:endParaRPr sz="1100">
              <a:solidFill>
                <a:schemeClr val="dk1"/>
              </a:solidFill>
            </a:endParaRPr>
          </a:p>
          <a:p>
            <a:pPr marL="0" lvl="0" indent="0" algn="l" rtl="0">
              <a:spcBef>
                <a:spcPts val="1200"/>
              </a:spcBef>
              <a:spcAft>
                <a:spcPts val="0"/>
              </a:spcAft>
              <a:buClr>
                <a:schemeClr val="dk1"/>
              </a:buClr>
              <a:buSzPct val="100000"/>
              <a:buFont typeface="Arial"/>
              <a:buNone/>
            </a:pPr>
            <a:r>
              <a:rPr lang="es" sz="1100" b="1">
                <a:solidFill>
                  <a:schemeClr val="dk1"/>
                </a:solidFill>
              </a:rPr>
              <a:t>2-Is BTC a Hedge Against U.S. Inflation (2014-2024)?</a:t>
            </a:r>
            <a:endParaRPr sz="1100" b="1">
              <a:solidFill>
                <a:schemeClr val="dk1"/>
              </a:solidFill>
            </a:endParaRPr>
          </a:p>
          <a:p>
            <a:pPr marL="457200" lvl="0" indent="-282733" algn="l" rtl="0">
              <a:spcBef>
                <a:spcPts val="1200"/>
              </a:spcBef>
              <a:spcAft>
                <a:spcPts val="0"/>
              </a:spcAft>
              <a:buClr>
                <a:schemeClr val="dk1"/>
              </a:buClr>
              <a:buSzPct val="100000"/>
              <a:buChar char="●"/>
            </a:pPr>
            <a:r>
              <a:rPr lang="es" sz="1100" b="1">
                <a:solidFill>
                  <a:schemeClr val="dk1"/>
                </a:solidFill>
              </a:rPr>
              <a:t>Inflation Data:</a:t>
            </a:r>
            <a:r>
              <a:rPr lang="es" sz="1100">
                <a:solidFill>
                  <a:schemeClr val="dk1"/>
                </a:solidFill>
              </a:rPr>
              <a:t> Stable, with a mean of 0.25% per month (3% annually).</a:t>
            </a:r>
            <a:endParaRPr sz="1100">
              <a:solidFill>
                <a:schemeClr val="dk1"/>
              </a:solidFill>
            </a:endParaRPr>
          </a:p>
          <a:p>
            <a:pPr marL="457200" lvl="0" indent="-282733" algn="l" rtl="0">
              <a:spcBef>
                <a:spcPts val="0"/>
              </a:spcBef>
              <a:spcAft>
                <a:spcPts val="0"/>
              </a:spcAft>
              <a:buClr>
                <a:schemeClr val="dk1"/>
              </a:buClr>
              <a:buSzPct val="100000"/>
              <a:buChar char="●"/>
            </a:pPr>
            <a:r>
              <a:rPr lang="es" sz="1100" b="1">
                <a:solidFill>
                  <a:schemeClr val="dk1"/>
                </a:solidFill>
              </a:rPr>
              <a:t>BTC &amp; Inflation Correlation:</a:t>
            </a:r>
            <a:r>
              <a:rPr lang="es" sz="1100">
                <a:solidFill>
                  <a:schemeClr val="dk1"/>
                </a:solidFill>
              </a:rPr>
              <a:t> </a:t>
            </a:r>
            <a:br>
              <a:rPr lang="es" sz="1100">
                <a:solidFill>
                  <a:schemeClr val="dk1"/>
                </a:solidFill>
              </a:rPr>
            </a:br>
            <a:r>
              <a:rPr lang="es" sz="900">
                <a:solidFill>
                  <a:srgbClr val="212121"/>
                </a:solidFill>
                <a:highlight>
                  <a:srgbClr val="FFFFFF"/>
                </a:highlight>
                <a:latin typeface="Courier New"/>
                <a:ea typeface="Courier New"/>
                <a:cs typeface="Courier New"/>
                <a:sym typeface="Courier New"/>
              </a:rPr>
              <a:t>-0.0219</a:t>
            </a:r>
            <a:r>
              <a:rPr lang="es" sz="1100">
                <a:solidFill>
                  <a:schemeClr val="dk1"/>
                </a:solidFill>
              </a:rPr>
              <a:t>(Near zero) indicating no hedge properties.</a:t>
            </a:r>
            <a:br>
              <a:rPr lang="es" sz="1100">
                <a:solidFill>
                  <a:schemeClr val="dk1"/>
                </a:solidFill>
              </a:rPr>
            </a:br>
            <a:endParaRPr sz="1100">
              <a:solidFill>
                <a:schemeClr val="dk1"/>
              </a:solidFill>
            </a:endParaRPr>
          </a:p>
          <a:p>
            <a:pPr marL="457200" lvl="0" indent="-282733" algn="l" rtl="0">
              <a:spcBef>
                <a:spcPts val="0"/>
              </a:spcBef>
              <a:spcAft>
                <a:spcPts val="0"/>
              </a:spcAft>
              <a:buClr>
                <a:schemeClr val="dk1"/>
              </a:buClr>
              <a:buSzPct val="100000"/>
              <a:buChar char="●"/>
            </a:pPr>
            <a:r>
              <a:rPr lang="es" sz="1100" b="1">
                <a:solidFill>
                  <a:schemeClr val="dk1"/>
                </a:solidFill>
              </a:rPr>
              <a:t>Conclusion:</a:t>
            </a:r>
            <a:r>
              <a:rPr lang="es" sz="1100">
                <a:solidFill>
                  <a:schemeClr val="dk1"/>
                </a:solidFill>
              </a:rPr>
              <a:t> BTC does not act as a reliable hedge against U.S. inflation.</a:t>
            </a:r>
            <a:endParaRPr sz="1100">
              <a:solidFill>
                <a:schemeClr val="dk1"/>
              </a:solidFill>
            </a:endParaRPr>
          </a:p>
          <a:p>
            <a:pPr marL="0" lvl="0" indent="0" algn="l" rtl="0">
              <a:spcBef>
                <a:spcPts val="1200"/>
              </a:spcBef>
              <a:spcAft>
                <a:spcPts val="1200"/>
              </a:spcAft>
              <a:buNone/>
            </a:pPr>
            <a:endParaRPr sz="900">
              <a:solidFill>
                <a:srgbClr val="212121"/>
              </a:solidFill>
              <a:highlight>
                <a:srgbClr val="FFFFFF"/>
              </a:highlight>
              <a:latin typeface="Courier New"/>
              <a:ea typeface="Courier New"/>
              <a:cs typeface="Courier New"/>
              <a:sym typeface="Courier New"/>
            </a:endParaRPr>
          </a:p>
        </p:txBody>
      </p:sp>
      <p:pic>
        <p:nvPicPr>
          <p:cNvPr id="73" name="Google Shape;73;p15"/>
          <p:cNvPicPr preferRelativeResize="0"/>
          <p:nvPr/>
        </p:nvPicPr>
        <p:blipFill>
          <a:blip r:embed="rId3">
            <a:alphaModFix/>
          </a:blip>
          <a:stretch>
            <a:fillRect/>
          </a:stretch>
        </p:blipFill>
        <p:spPr>
          <a:xfrm>
            <a:off x="4572000" y="1359800"/>
            <a:ext cx="4240075" cy="510475"/>
          </a:xfrm>
          <a:prstGeom prst="rect">
            <a:avLst/>
          </a:prstGeom>
          <a:noFill/>
          <a:ln>
            <a:noFill/>
          </a:ln>
        </p:spPr>
      </p:pic>
      <p:sp>
        <p:nvSpPr>
          <p:cNvPr id="74" name="Google Shape;74;p15"/>
          <p:cNvSpPr txBox="1"/>
          <p:nvPr/>
        </p:nvSpPr>
        <p:spPr>
          <a:xfrm>
            <a:off x="5274000" y="947427"/>
            <a:ext cx="2654100" cy="344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1800">
                <a:solidFill>
                  <a:schemeClr val="accent3"/>
                </a:solidFill>
                <a:latin typeface="Average"/>
                <a:ea typeface="Average"/>
                <a:cs typeface="Average"/>
                <a:sym typeface="Average"/>
              </a:rPr>
              <a:t>Comparison with SP500</a:t>
            </a:r>
            <a:endParaRPr sz="1800">
              <a:solidFill>
                <a:schemeClr val="accent3"/>
              </a:solidFill>
              <a:latin typeface="Average"/>
              <a:ea typeface="Average"/>
              <a:cs typeface="Average"/>
              <a:sym typeface="Average"/>
            </a:endParaRPr>
          </a:p>
          <a:p>
            <a:pPr marL="0" lvl="0" indent="0" algn="l" rtl="0">
              <a:spcBef>
                <a:spcPts val="0"/>
              </a:spcBef>
              <a:spcAft>
                <a:spcPts val="0"/>
              </a:spcAft>
              <a:buNone/>
            </a:pPr>
            <a:endParaRPr sz="1800">
              <a:solidFill>
                <a:schemeClr val="accent3"/>
              </a:solidFill>
              <a:latin typeface="Average"/>
              <a:ea typeface="Average"/>
              <a:cs typeface="Average"/>
              <a:sym typeface="Average"/>
            </a:endParaRPr>
          </a:p>
        </p:txBody>
      </p:sp>
      <p:sp>
        <p:nvSpPr>
          <p:cNvPr id="75" name="Google Shape;75;p15"/>
          <p:cNvSpPr txBox="1"/>
          <p:nvPr/>
        </p:nvSpPr>
        <p:spPr>
          <a:xfrm>
            <a:off x="5364963" y="2850177"/>
            <a:ext cx="2654100" cy="344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1800">
                <a:solidFill>
                  <a:schemeClr val="accent3"/>
                </a:solidFill>
                <a:latin typeface="Average"/>
                <a:ea typeface="Average"/>
                <a:cs typeface="Average"/>
                <a:sym typeface="Average"/>
              </a:rPr>
              <a:t>Inflation</a:t>
            </a:r>
            <a:endParaRPr sz="1800">
              <a:solidFill>
                <a:schemeClr val="accent3"/>
              </a:solidFill>
              <a:latin typeface="Average"/>
              <a:ea typeface="Average"/>
              <a:cs typeface="Average"/>
              <a:sym typeface="Average"/>
            </a:endParaRPr>
          </a:p>
          <a:p>
            <a:pPr marL="0" lvl="0" indent="0" algn="l" rtl="0">
              <a:spcBef>
                <a:spcPts val="0"/>
              </a:spcBef>
              <a:spcAft>
                <a:spcPts val="0"/>
              </a:spcAft>
              <a:buNone/>
            </a:pPr>
            <a:endParaRPr sz="1800">
              <a:solidFill>
                <a:schemeClr val="accent3"/>
              </a:solidFill>
              <a:latin typeface="Average"/>
              <a:ea typeface="Average"/>
              <a:cs typeface="Average"/>
              <a:sym typeface="Average"/>
            </a:endParaRPr>
          </a:p>
        </p:txBody>
      </p:sp>
      <p:pic>
        <p:nvPicPr>
          <p:cNvPr id="76" name="Google Shape;76;p15"/>
          <p:cNvPicPr preferRelativeResize="0"/>
          <p:nvPr/>
        </p:nvPicPr>
        <p:blipFill>
          <a:blip r:embed="rId4">
            <a:alphaModFix/>
          </a:blip>
          <a:stretch>
            <a:fillRect/>
          </a:stretch>
        </p:blipFill>
        <p:spPr>
          <a:xfrm>
            <a:off x="4571975" y="3292375"/>
            <a:ext cx="4240074" cy="344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3-Portfolios</a:t>
            </a:r>
            <a:endParaRPr/>
          </a:p>
        </p:txBody>
      </p:sp>
      <p:sp>
        <p:nvSpPr>
          <p:cNvPr id="82" name="Google Shape;82;p16"/>
          <p:cNvSpPr txBox="1">
            <a:spLocks noGrp="1"/>
          </p:cNvSpPr>
          <p:nvPr>
            <p:ph type="body" idx="1"/>
          </p:nvPr>
        </p:nvSpPr>
        <p:spPr>
          <a:xfrm>
            <a:off x="81425" y="1017725"/>
            <a:ext cx="8832300" cy="1959600"/>
          </a:xfrm>
          <a:prstGeom prst="rect">
            <a:avLst/>
          </a:prstGeom>
        </p:spPr>
        <p:txBody>
          <a:bodyPr spcFirstLastPara="1" wrap="square" lIns="91425" tIns="91425" rIns="91425" bIns="91425" anchor="t" anchorCtr="0">
            <a:normAutofit lnSpcReduction="20000"/>
          </a:bodyPr>
          <a:lstStyle/>
          <a:p>
            <a:pPr marL="0" lvl="0" indent="0" algn="l" rtl="0">
              <a:spcBef>
                <a:spcPts val="0"/>
              </a:spcBef>
              <a:spcAft>
                <a:spcPts val="0"/>
              </a:spcAft>
              <a:buClr>
                <a:schemeClr val="dk1"/>
              </a:buClr>
              <a:buSzPts val="1100"/>
              <a:buFont typeface="Arial"/>
              <a:buNone/>
            </a:pPr>
            <a:r>
              <a:rPr lang="es" sz="1100" b="1">
                <a:solidFill>
                  <a:schemeClr val="dk1"/>
                </a:solidFill>
              </a:rPr>
              <a:t>Three Portfolio Scenarios:</a:t>
            </a:r>
            <a:endParaRPr sz="1100" b="1">
              <a:solidFill>
                <a:schemeClr val="dk1"/>
              </a:solidFill>
            </a:endParaRPr>
          </a:p>
          <a:p>
            <a:pPr marL="457200" lvl="0" indent="-298450" algn="l" rtl="0">
              <a:spcBef>
                <a:spcPts val="1200"/>
              </a:spcBef>
              <a:spcAft>
                <a:spcPts val="0"/>
              </a:spcAft>
              <a:buClr>
                <a:schemeClr val="dk1"/>
              </a:buClr>
              <a:buSzPts val="1100"/>
              <a:buAutoNum type="arabicPeriod"/>
            </a:pPr>
            <a:r>
              <a:rPr lang="es" sz="1100" b="1">
                <a:solidFill>
                  <a:schemeClr val="dk1"/>
                </a:solidFill>
              </a:rPr>
              <a:t>Long-only Portfolios:</a:t>
            </a:r>
            <a:endParaRPr sz="1100" b="1">
              <a:solidFill>
                <a:schemeClr val="dk1"/>
              </a:solidFill>
            </a:endParaRPr>
          </a:p>
          <a:p>
            <a:pPr marL="914400" lvl="1" indent="-298450" algn="l" rtl="0">
              <a:spcBef>
                <a:spcPts val="0"/>
              </a:spcBef>
              <a:spcAft>
                <a:spcPts val="0"/>
              </a:spcAft>
              <a:buClr>
                <a:schemeClr val="dk1"/>
              </a:buClr>
              <a:buSzPts val="1100"/>
              <a:buChar char="○"/>
            </a:pPr>
            <a:r>
              <a:rPr lang="es" sz="1100">
                <a:solidFill>
                  <a:schemeClr val="dk1"/>
                </a:solidFill>
              </a:rPr>
              <a:t>Conservative, lower risk-return.</a:t>
            </a:r>
            <a:endParaRPr sz="1100">
              <a:solidFill>
                <a:schemeClr val="dk1"/>
              </a:solidFill>
            </a:endParaRPr>
          </a:p>
          <a:p>
            <a:pPr marL="457200" lvl="0" indent="-298450" algn="l" rtl="0">
              <a:spcBef>
                <a:spcPts val="0"/>
              </a:spcBef>
              <a:spcAft>
                <a:spcPts val="0"/>
              </a:spcAft>
              <a:buClr>
                <a:schemeClr val="dk1"/>
              </a:buClr>
              <a:buSzPts val="1100"/>
              <a:buAutoNum type="arabicPeriod"/>
            </a:pPr>
            <a:r>
              <a:rPr lang="es" sz="1100" b="1">
                <a:solidFill>
                  <a:schemeClr val="dk1"/>
                </a:solidFill>
              </a:rPr>
              <a:t>Long and Short Portfolios:</a:t>
            </a:r>
            <a:endParaRPr sz="1100" b="1">
              <a:solidFill>
                <a:schemeClr val="dk1"/>
              </a:solidFill>
            </a:endParaRPr>
          </a:p>
          <a:p>
            <a:pPr marL="914400" lvl="1" indent="-298450" algn="l" rtl="0">
              <a:spcBef>
                <a:spcPts val="0"/>
              </a:spcBef>
              <a:spcAft>
                <a:spcPts val="0"/>
              </a:spcAft>
              <a:buClr>
                <a:schemeClr val="dk1"/>
              </a:buClr>
              <a:buSzPts val="1100"/>
              <a:buChar char="○"/>
            </a:pPr>
            <a:r>
              <a:rPr lang="es" sz="1100">
                <a:solidFill>
                  <a:schemeClr val="dk1"/>
                </a:solidFill>
              </a:rPr>
              <a:t>More aggressive, higher potential returns by exploiting negative correlations.</a:t>
            </a:r>
            <a:endParaRPr sz="1100">
              <a:solidFill>
                <a:schemeClr val="dk1"/>
              </a:solidFill>
            </a:endParaRPr>
          </a:p>
          <a:p>
            <a:pPr marL="457200" lvl="0" indent="-298450" algn="l" rtl="0">
              <a:spcBef>
                <a:spcPts val="0"/>
              </a:spcBef>
              <a:spcAft>
                <a:spcPts val="0"/>
              </a:spcAft>
              <a:buClr>
                <a:schemeClr val="dk1"/>
              </a:buClr>
              <a:buSzPts val="1100"/>
              <a:buAutoNum type="arabicPeriod"/>
            </a:pPr>
            <a:r>
              <a:rPr lang="es" sz="1100" b="1">
                <a:solidFill>
                  <a:schemeClr val="dk1"/>
                </a:solidFill>
              </a:rPr>
              <a:t>Restricted Portfolios (2-5 assets):</a:t>
            </a:r>
            <a:endParaRPr sz="1100" b="1">
              <a:solidFill>
                <a:schemeClr val="dk1"/>
              </a:solidFill>
            </a:endParaRPr>
          </a:p>
          <a:p>
            <a:pPr marL="914400" lvl="1" indent="-298450" algn="l" rtl="0">
              <a:spcBef>
                <a:spcPts val="0"/>
              </a:spcBef>
              <a:spcAft>
                <a:spcPts val="0"/>
              </a:spcAft>
              <a:buClr>
                <a:schemeClr val="dk1"/>
              </a:buClr>
              <a:buSzPts val="1100"/>
              <a:buChar char="○"/>
            </a:pPr>
            <a:r>
              <a:rPr lang="es" sz="1100">
                <a:solidFill>
                  <a:schemeClr val="dk1"/>
                </a:solidFill>
              </a:rPr>
              <a:t>Limited diversification, lower efficiency.</a:t>
            </a:r>
            <a:endParaRPr sz="1100">
              <a:solidFill>
                <a:schemeClr val="dk1"/>
              </a:solidFill>
            </a:endParaRPr>
          </a:p>
          <a:p>
            <a:pPr marL="0" lvl="0" indent="0" algn="l" rtl="0">
              <a:spcBef>
                <a:spcPts val="1200"/>
              </a:spcBef>
              <a:spcAft>
                <a:spcPts val="1200"/>
              </a:spcAft>
              <a:buNone/>
            </a:pPr>
            <a:endParaRPr/>
          </a:p>
        </p:txBody>
      </p:sp>
      <p:sp>
        <p:nvSpPr>
          <p:cNvPr id="83" name="Google Shape;83;p16"/>
          <p:cNvSpPr txBox="1"/>
          <p:nvPr/>
        </p:nvSpPr>
        <p:spPr>
          <a:xfrm>
            <a:off x="6766000" y="942200"/>
            <a:ext cx="1951200" cy="1074000"/>
          </a:xfrm>
          <a:prstGeom prst="rect">
            <a:avLst/>
          </a:prstGeom>
          <a:noFill/>
          <a:ln>
            <a:noFill/>
          </a:ln>
        </p:spPr>
        <p:txBody>
          <a:bodyPr spcFirstLastPara="1" wrap="square" lIns="91425" tIns="91425" rIns="91425" bIns="91425" anchor="t" anchorCtr="0">
            <a:noAutofit/>
          </a:bodyPr>
          <a:lstStyle/>
          <a:p>
            <a:pPr marL="203200" lvl="0" indent="-203200" algn="l" rtl="0">
              <a:lnSpc>
                <a:spcPct val="115000"/>
              </a:lnSpc>
              <a:spcBef>
                <a:spcPts val="0"/>
              </a:spcBef>
              <a:spcAft>
                <a:spcPts val="0"/>
              </a:spcAft>
              <a:buNone/>
            </a:pPr>
            <a:r>
              <a:rPr lang="es" sz="600" b="1"/>
              <a:t>ASSETS:</a:t>
            </a:r>
            <a:endParaRPr sz="600" b="1"/>
          </a:p>
          <a:p>
            <a:pPr marL="203200" lvl="0" indent="-203200" algn="l" rtl="0">
              <a:lnSpc>
                <a:spcPct val="115000"/>
              </a:lnSpc>
              <a:spcBef>
                <a:spcPts val="0"/>
              </a:spcBef>
              <a:spcAft>
                <a:spcPts val="0"/>
              </a:spcAft>
              <a:buNone/>
            </a:pPr>
            <a:r>
              <a:rPr lang="es" sz="600" b="1">
                <a:solidFill>
                  <a:srgbClr val="D9D9D9"/>
                </a:solidFill>
              </a:rPr>
              <a:t>S&amp;P 500: ^GSPC</a:t>
            </a:r>
            <a:endParaRPr sz="600" b="1">
              <a:solidFill>
                <a:srgbClr val="D9D9D9"/>
              </a:solidFill>
            </a:endParaRPr>
          </a:p>
          <a:p>
            <a:pPr marL="203200" lvl="0" indent="-203200" algn="l" rtl="0">
              <a:lnSpc>
                <a:spcPct val="115000"/>
              </a:lnSpc>
              <a:spcBef>
                <a:spcPts val="0"/>
              </a:spcBef>
              <a:spcAft>
                <a:spcPts val="0"/>
              </a:spcAft>
              <a:buNone/>
            </a:pPr>
            <a:r>
              <a:rPr lang="es" sz="600" b="1">
                <a:solidFill>
                  <a:srgbClr val="D9D9D9"/>
                </a:solidFill>
              </a:rPr>
              <a:t>Nikkei 225: ^N225</a:t>
            </a:r>
            <a:endParaRPr sz="600" b="1">
              <a:solidFill>
                <a:srgbClr val="D9D9D9"/>
              </a:solidFill>
            </a:endParaRPr>
          </a:p>
          <a:p>
            <a:pPr marL="203200" lvl="0" indent="-203200" algn="l" rtl="0">
              <a:lnSpc>
                <a:spcPct val="115000"/>
              </a:lnSpc>
              <a:spcBef>
                <a:spcPts val="0"/>
              </a:spcBef>
              <a:spcAft>
                <a:spcPts val="0"/>
              </a:spcAft>
              <a:buNone/>
            </a:pPr>
            <a:r>
              <a:rPr lang="es" sz="600" b="1">
                <a:solidFill>
                  <a:srgbClr val="D9D9D9"/>
                </a:solidFill>
              </a:rPr>
              <a:t>Gold: GLD</a:t>
            </a:r>
            <a:endParaRPr sz="600" b="1">
              <a:solidFill>
                <a:srgbClr val="D9D9D9"/>
              </a:solidFill>
            </a:endParaRPr>
          </a:p>
          <a:p>
            <a:pPr marL="203200" lvl="0" indent="-203200" algn="l" rtl="0">
              <a:lnSpc>
                <a:spcPct val="115000"/>
              </a:lnSpc>
              <a:spcBef>
                <a:spcPts val="0"/>
              </a:spcBef>
              <a:spcAft>
                <a:spcPts val="0"/>
              </a:spcAft>
              <a:buNone/>
            </a:pPr>
            <a:r>
              <a:rPr lang="es" sz="600" b="1">
                <a:solidFill>
                  <a:srgbClr val="D9D9D9"/>
                </a:solidFill>
              </a:rPr>
              <a:t>NASDAQ 100: QQQ</a:t>
            </a:r>
            <a:endParaRPr sz="600" b="1">
              <a:solidFill>
                <a:srgbClr val="D9D9D9"/>
              </a:solidFill>
            </a:endParaRPr>
          </a:p>
          <a:p>
            <a:pPr marL="203200" lvl="0" indent="-203200" algn="l" rtl="0">
              <a:lnSpc>
                <a:spcPct val="115000"/>
              </a:lnSpc>
              <a:spcBef>
                <a:spcPts val="0"/>
              </a:spcBef>
              <a:spcAft>
                <a:spcPts val="0"/>
              </a:spcAft>
              <a:buNone/>
            </a:pPr>
            <a:r>
              <a:rPr lang="es" sz="600" b="1">
                <a:solidFill>
                  <a:srgbClr val="D9D9D9"/>
                </a:solidFill>
              </a:rPr>
              <a:t>NASDAQ Composite: ^IXIC</a:t>
            </a:r>
            <a:endParaRPr sz="600" b="1">
              <a:solidFill>
                <a:srgbClr val="D9D9D9"/>
              </a:solidFill>
            </a:endParaRPr>
          </a:p>
          <a:p>
            <a:pPr marL="203200" lvl="0" indent="-203200" algn="l" rtl="0">
              <a:lnSpc>
                <a:spcPct val="115000"/>
              </a:lnSpc>
              <a:spcBef>
                <a:spcPts val="0"/>
              </a:spcBef>
              <a:spcAft>
                <a:spcPts val="0"/>
              </a:spcAft>
              <a:buNone/>
            </a:pPr>
            <a:r>
              <a:rPr lang="es" sz="600" b="1">
                <a:solidFill>
                  <a:srgbClr val="D9D9D9"/>
                </a:solidFill>
              </a:rPr>
              <a:t>Financial Select Sector SPDR Fund: FNCL</a:t>
            </a:r>
            <a:endParaRPr sz="600" b="1">
              <a:solidFill>
                <a:srgbClr val="D9D9D9"/>
              </a:solidFill>
            </a:endParaRPr>
          </a:p>
          <a:p>
            <a:pPr marL="203200" lvl="0" indent="-203200" algn="l" rtl="0">
              <a:lnSpc>
                <a:spcPct val="115000"/>
              </a:lnSpc>
              <a:spcBef>
                <a:spcPts val="0"/>
              </a:spcBef>
              <a:spcAft>
                <a:spcPts val="0"/>
              </a:spcAft>
              <a:buNone/>
            </a:pPr>
            <a:r>
              <a:rPr lang="es" sz="600" b="1">
                <a:solidFill>
                  <a:srgbClr val="D9D9D9"/>
                </a:solidFill>
              </a:rPr>
              <a:t>IBEX 35: ^IBEX</a:t>
            </a:r>
            <a:endParaRPr sz="600" b="1">
              <a:solidFill>
                <a:srgbClr val="D9D9D9"/>
              </a:solidFill>
            </a:endParaRPr>
          </a:p>
          <a:p>
            <a:pPr marL="203200" lvl="0" indent="-203200" algn="l" rtl="0">
              <a:lnSpc>
                <a:spcPct val="115000"/>
              </a:lnSpc>
              <a:spcBef>
                <a:spcPts val="0"/>
              </a:spcBef>
              <a:spcAft>
                <a:spcPts val="0"/>
              </a:spcAft>
              <a:buNone/>
            </a:pPr>
            <a:r>
              <a:rPr lang="es" sz="600" b="1">
                <a:solidFill>
                  <a:srgbClr val="D9D9D9"/>
                </a:solidFill>
              </a:rPr>
              <a:t>Bitcoin: BTC-USD</a:t>
            </a:r>
            <a:endParaRPr sz="600" b="1">
              <a:solidFill>
                <a:srgbClr val="D9D9D9"/>
              </a:solidFill>
            </a:endParaRPr>
          </a:p>
          <a:p>
            <a:pPr marL="0" lvl="0" indent="0" algn="l" rtl="0">
              <a:spcBef>
                <a:spcPts val="0"/>
              </a:spcBef>
              <a:spcAft>
                <a:spcPts val="0"/>
              </a:spcAft>
              <a:buNone/>
            </a:pPr>
            <a:endParaRPr sz="600">
              <a:solidFill>
                <a:srgbClr val="D9D9D9"/>
              </a:solidFill>
              <a:latin typeface="Average"/>
              <a:ea typeface="Average"/>
              <a:cs typeface="Average"/>
              <a:sym typeface="Averag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s"/>
              <a:t>Portfolios &amp; The Efficient Frontier</a:t>
            </a:r>
            <a:endParaRPr/>
          </a:p>
        </p:txBody>
      </p:sp>
      <p:sp>
        <p:nvSpPr>
          <p:cNvPr id="89" name="Google Shape;89;p17"/>
          <p:cNvSpPr txBox="1">
            <a:spLocks noGrp="1"/>
          </p:cNvSpPr>
          <p:nvPr>
            <p:ph type="body" idx="1"/>
          </p:nvPr>
        </p:nvSpPr>
        <p:spPr>
          <a:xfrm>
            <a:off x="311700" y="1152475"/>
            <a:ext cx="30438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s"/>
              <a:t>Long-Short overperformed</a:t>
            </a:r>
            <a:br>
              <a:rPr lang="es"/>
            </a:br>
            <a:r>
              <a:rPr lang="es" sz="1300"/>
              <a:t>(thanks to more freedom in weights)</a:t>
            </a:r>
            <a:endParaRPr sz="1300"/>
          </a:p>
          <a:p>
            <a:pPr marL="0" lvl="0" indent="0" algn="l" rtl="0">
              <a:spcBef>
                <a:spcPts val="1200"/>
              </a:spcBef>
              <a:spcAft>
                <a:spcPts val="0"/>
              </a:spcAft>
              <a:buNone/>
            </a:pPr>
            <a:r>
              <a:rPr lang="es"/>
              <a:t>Long-Only and Restricted stay on the Frontier</a:t>
            </a:r>
            <a:endParaRPr/>
          </a:p>
          <a:p>
            <a:pPr marL="0" lvl="0" indent="0" algn="l" rtl="0">
              <a:spcBef>
                <a:spcPts val="1200"/>
              </a:spcBef>
              <a:spcAft>
                <a:spcPts val="0"/>
              </a:spcAft>
              <a:buNone/>
            </a:pPr>
            <a:r>
              <a:rPr lang="es"/>
              <a:t>Equally Weighted underperformed</a:t>
            </a:r>
            <a:endParaRPr/>
          </a:p>
          <a:p>
            <a:pPr marL="0" lvl="0" indent="0" algn="l" rtl="0">
              <a:spcBef>
                <a:spcPts val="1200"/>
              </a:spcBef>
              <a:spcAft>
                <a:spcPts val="0"/>
              </a:spcAft>
              <a:buNone/>
            </a:pPr>
            <a:endParaRPr/>
          </a:p>
          <a:p>
            <a:pPr marL="0" lvl="0" indent="0" algn="l" rtl="0">
              <a:spcBef>
                <a:spcPts val="1200"/>
              </a:spcBef>
              <a:spcAft>
                <a:spcPts val="1200"/>
              </a:spcAft>
              <a:buNone/>
            </a:pPr>
            <a:r>
              <a:rPr lang="es"/>
              <a:t>(in terms of risk-return)</a:t>
            </a:r>
            <a:endParaRPr/>
          </a:p>
        </p:txBody>
      </p:sp>
      <p:pic>
        <p:nvPicPr>
          <p:cNvPr id="90" name="Google Shape;90;p17"/>
          <p:cNvPicPr preferRelativeResize="0"/>
          <p:nvPr/>
        </p:nvPicPr>
        <p:blipFill>
          <a:blip r:embed="rId3">
            <a:alphaModFix/>
          </a:blip>
          <a:stretch>
            <a:fillRect/>
          </a:stretch>
        </p:blipFill>
        <p:spPr>
          <a:xfrm>
            <a:off x="3686900" y="1017725"/>
            <a:ext cx="5229899" cy="3940600"/>
          </a:xfrm>
          <a:prstGeom prst="rect">
            <a:avLst/>
          </a:prstGeom>
          <a:noFill/>
          <a:ln>
            <a:noFill/>
          </a:ln>
        </p:spPr>
      </p:pic>
      <p:sp>
        <p:nvSpPr>
          <p:cNvPr id="91" name="Google Shape;91;p17"/>
          <p:cNvSpPr txBox="1"/>
          <p:nvPr/>
        </p:nvSpPr>
        <p:spPr>
          <a:xfrm>
            <a:off x="7203800" y="624025"/>
            <a:ext cx="1713000" cy="354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es" sz="1100">
                <a:solidFill>
                  <a:schemeClr val="accent3"/>
                </a:solidFill>
                <a:latin typeface="Average"/>
                <a:ea typeface="Average"/>
                <a:cs typeface="Average"/>
                <a:sym typeface="Average"/>
              </a:rPr>
              <a:t>(Red and pink overlaps)</a:t>
            </a:r>
            <a:endParaRPr sz="1100">
              <a:solidFill>
                <a:schemeClr val="accent3"/>
              </a:solidFill>
              <a:latin typeface="Average"/>
              <a:ea typeface="Average"/>
              <a:cs typeface="Average"/>
              <a:sym typeface="Average"/>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Equally-Weighted Portfolio &amp; Performance</a:t>
            </a:r>
            <a:endParaRPr/>
          </a:p>
        </p:txBody>
      </p:sp>
      <p:sp>
        <p:nvSpPr>
          <p:cNvPr id="97" name="Google Shape;97;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s" sz="1100" b="1">
                <a:solidFill>
                  <a:schemeClr val="dk1"/>
                </a:solidFill>
              </a:rPr>
              <a:t>Equally-Weighted Portfolio:</a:t>
            </a:r>
            <a:endParaRPr sz="1100" b="1">
              <a:solidFill>
                <a:schemeClr val="dk1"/>
              </a:solidFill>
            </a:endParaRPr>
          </a:p>
          <a:p>
            <a:pPr marL="457200" lvl="0" indent="-298450" algn="l" rtl="0">
              <a:spcBef>
                <a:spcPts val="1200"/>
              </a:spcBef>
              <a:spcAft>
                <a:spcPts val="0"/>
              </a:spcAft>
              <a:buClr>
                <a:schemeClr val="dk1"/>
              </a:buClr>
              <a:buSzPts val="1100"/>
              <a:buChar char="●"/>
            </a:pPr>
            <a:r>
              <a:rPr lang="es" sz="1100">
                <a:solidFill>
                  <a:schemeClr val="dk1"/>
                </a:solidFill>
              </a:rPr>
              <a:t>Each asset receives an equal allocation. This is a common method.</a:t>
            </a:r>
            <a:endParaRPr sz="1100">
              <a:solidFill>
                <a:schemeClr val="dk1"/>
              </a:solidFill>
            </a:endParaRPr>
          </a:p>
          <a:p>
            <a:pPr marL="457200" lvl="0" indent="-298450" algn="l" rtl="0">
              <a:spcBef>
                <a:spcPts val="0"/>
              </a:spcBef>
              <a:spcAft>
                <a:spcPts val="0"/>
              </a:spcAft>
              <a:buClr>
                <a:schemeClr val="dk1"/>
              </a:buClr>
              <a:buSzPts val="1100"/>
              <a:buChar char="●"/>
            </a:pPr>
            <a:r>
              <a:rPr lang="es" sz="1100" b="1">
                <a:solidFill>
                  <a:schemeClr val="dk1"/>
                </a:solidFill>
              </a:rPr>
              <a:t>Main Results:</a:t>
            </a:r>
            <a:endParaRPr sz="1100" b="1">
              <a:solidFill>
                <a:schemeClr val="dk1"/>
              </a:solidFill>
            </a:endParaRPr>
          </a:p>
          <a:p>
            <a:pPr marL="914400" lvl="1" indent="-298450" algn="l" rtl="0">
              <a:spcBef>
                <a:spcPts val="0"/>
              </a:spcBef>
              <a:spcAft>
                <a:spcPts val="0"/>
              </a:spcAft>
              <a:buClr>
                <a:schemeClr val="dk1"/>
              </a:buClr>
              <a:buSzPts val="1100"/>
              <a:buChar char="○"/>
            </a:pPr>
            <a:r>
              <a:rPr lang="es" sz="1100">
                <a:solidFill>
                  <a:schemeClr val="dk1"/>
                </a:solidFill>
              </a:rPr>
              <a:t>Likely not on the efficient frontier.</a:t>
            </a:r>
            <a:endParaRPr sz="1100">
              <a:solidFill>
                <a:schemeClr val="dk1"/>
              </a:solidFill>
            </a:endParaRPr>
          </a:p>
          <a:p>
            <a:pPr marL="914400" lvl="1" indent="-298450" algn="l" rtl="0">
              <a:spcBef>
                <a:spcPts val="0"/>
              </a:spcBef>
              <a:spcAft>
                <a:spcPts val="0"/>
              </a:spcAft>
              <a:buClr>
                <a:schemeClr val="dk1"/>
              </a:buClr>
              <a:buSzPts val="1100"/>
              <a:buChar char="○"/>
            </a:pPr>
            <a:r>
              <a:rPr lang="es" sz="1100">
                <a:solidFill>
                  <a:schemeClr val="dk1"/>
                </a:solidFill>
              </a:rPr>
              <a:t>Ignores risk-return characteristics of individual assets.</a:t>
            </a:r>
            <a:endParaRPr sz="1100">
              <a:solidFill>
                <a:schemeClr val="dk1"/>
              </a:solidFill>
            </a:endParaRPr>
          </a:p>
          <a:p>
            <a:pPr marL="914400" lvl="1" indent="-298450" algn="l" rtl="0">
              <a:spcBef>
                <a:spcPts val="0"/>
              </a:spcBef>
              <a:spcAft>
                <a:spcPts val="0"/>
              </a:spcAft>
              <a:buClr>
                <a:schemeClr val="dk1"/>
              </a:buClr>
              <a:buSzPts val="1100"/>
              <a:buChar char="○"/>
            </a:pPr>
            <a:r>
              <a:rPr lang="es" sz="1100">
                <a:solidFill>
                  <a:schemeClr val="dk1"/>
                </a:solidFill>
              </a:rPr>
              <a:t>We can’t treat BTC as Commodities…</a:t>
            </a:r>
            <a:endParaRPr sz="1100">
              <a:solidFill>
                <a:schemeClr val="dk1"/>
              </a:solidFill>
            </a:endParaRPr>
          </a:p>
          <a:p>
            <a:pPr marL="0" lvl="0" indent="0" algn="l" rtl="0">
              <a:spcBef>
                <a:spcPts val="1200"/>
              </a:spcBef>
              <a:spcAft>
                <a:spcPts val="0"/>
              </a:spcAft>
              <a:buClr>
                <a:schemeClr val="dk1"/>
              </a:buClr>
              <a:buSzPts val="1100"/>
              <a:buFont typeface="Arial"/>
              <a:buNone/>
            </a:pPr>
            <a:r>
              <a:rPr lang="es" sz="1100" b="1">
                <a:solidFill>
                  <a:schemeClr val="dk1"/>
                </a:solidFill>
              </a:rPr>
              <a:t>Conclusion:</a:t>
            </a:r>
            <a:endParaRPr sz="1100" b="1">
              <a:solidFill>
                <a:schemeClr val="dk1"/>
              </a:solidFill>
            </a:endParaRPr>
          </a:p>
          <a:p>
            <a:pPr marL="457200" lvl="0" indent="-298450" algn="l" rtl="0">
              <a:spcBef>
                <a:spcPts val="1200"/>
              </a:spcBef>
              <a:spcAft>
                <a:spcPts val="0"/>
              </a:spcAft>
              <a:buClr>
                <a:schemeClr val="dk1"/>
              </a:buClr>
              <a:buSzPts val="1100"/>
              <a:buChar char="●"/>
            </a:pPr>
            <a:r>
              <a:rPr lang="es" sz="1100">
                <a:solidFill>
                  <a:schemeClr val="dk1"/>
                </a:solidFill>
              </a:rPr>
              <a:t>Equally-weighted portfolios are less efficient compared to optimized portfolios due to lack of focus on asset covariance.</a:t>
            </a:r>
            <a:endParaRPr sz="1100">
              <a:solidFill>
                <a:schemeClr val="dk1"/>
              </a:solidFill>
            </a:endParaRPr>
          </a:p>
          <a:p>
            <a:pPr marL="0" lvl="0" indent="0" algn="l" rtl="0">
              <a:spcBef>
                <a:spcPts val="1200"/>
              </a:spcBef>
              <a:spcAft>
                <a:spcPts val="120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4-BTC as a Stock Market Risk Diversifier</a:t>
            </a:r>
            <a:endParaRPr/>
          </a:p>
        </p:txBody>
      </p:sp>
      <p:sp>
        <p:nvSpPr>
          <p:cNvPr id="103" name="Google Shape;103;p19"/>
          <p:cNvSpPr txBox="1">
            <a:spLocks noGrp="1"/>
          </p:cNvSpPr>
          <p:nvPr>
            <p:ph type="body" idx="1"/>
          </p:nvPr>
        </p:nvSpPr>
        <p:spPr>
          <a:xfrm>
            <a:off x="311700" y="1012925"/>
            <a:ext cx="8520600" cy="19563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Clr>
                <a:schemeClr val="dk1"/>
              </a:buClr>
              <a:buSzPts val="523"/>
              <a:buFont typeface="Arial"/>
              <a:buNone/>
            </a:pPr>
            <a:r>
              <a:rPr lang="es" sz="1345" b="1">
                <a:solidFill>
                  <a:schemeClr val="dk1"/>
                </a:solidFill>
              </a:rPr>
              <a:t>Bitcoin’s Role in Diversification:</a:t>
            </a:r>
            <a:endParaRPr sz="1345" b="1">
              <a:solidFill>
                <a:schemeClr val="dk1"/>
              </a:solidFill>
            </a:endParaRPr>
          </a:p>
          <a:p>
            <a:pPr marL="457200" lvl="0" indent="-314064" algn="l" rtl="0">
              <a:lnSpc>
                <a:spcPct val="95000"/>
              </a:lnSpc>
              <a:spcBef>
                <a:spcPts val="1200"/>
              </a:spcBef>
              <a:spcAft>
                <a:spcPts val="0"/>
              </a:spcAft>
              <a:buClr>
                <a:schemeClr val="dk1"/>
              </a:buClr>
              <a:buSzPts val="1346"/>
              <a:buChar char="●"/>
            </a:pPr>
            <a:r>
              <a:rPr lang="es" sz="1345">
                <a:solidFill>
                  <a:schemeClr val="dk1"/>
                </a:solidFill>
              </a:rPr>
              <a:t>BTC often shows low linear correlation with stock indexes like S&amp;P 500 and NASDAQ.</a:t>
            </a:r>
            <a:endParaRPr sz="1345">
              <a:solidFill>
                <a:schemeClr val="dk1"/>
              </a:solidFill>
            </a:endParaRPr>
          </a:p>
          <a:p>
            <a:pPr marL="0" lvl="0" indent="0" algn="l" rtl="0">
              <a:lnSpc>
                <a:spcPct val="95000"/>
              </a:lnSpc>
              <a:spcBef>
                <a:spcPts val="1200"/>
              </a:spcBef>
              <a:spcAft>
                <a:spcPts val="0"/>
              </a:spcAft>
              <a:buNone/>
            </a:pPr>
            <a:r>
              <a:rPr lang="es" sz="1345">
                <a:solidFill>
                  <a:schemeClr val="dk1"/>
                </a:solidFill>
              </a:rPr>
              <a:t>	i.e.: </a:t>
            </a:r>
            <a:br>
              <a:rPr lang="es" sz="1345">
                <a:solidFill>
                  <a:schemeClr val="dk1"/>
                </a:solidFill>
              </a:rPr>
            </a:br>
            <a:r>
              <a:rPr lang="es" sz="1345">
                <a:solidFill>
                  <a:schemeClr val="dk1"/>
                </a:solidFill>
              </a:rPr>
              <a:t>	</a:t>
            </a:r>
            <a:r>
              <a:rPr lang="es" sz="900">
                <a:solidFill>
                  <a:srgbClr val="212121"/>
                </a:solidFill>
                <a:highlight>
                  <a:srgbClr val="FFFFFF"/>
                </a:highlight>
                <a:latin typeface="Courier New"/>
                <a:ea typeface="Courier New"/>
                <a:cs typeface="Courier New"/>
                <a:sym typeface="Courier New"/>
              </a:rPr>
              <a:t>Corr(SP500,BTC) 0.1773</a:t>
            </a:r>
            <a:br>
              <a:rPr lang="es" sz="900">
                <a:solidFill>
                  <a:srgbClr val="212121"/>
                </a:solidFill>
                <a:highlight>
                  <a:srgbClr val="FFFFFF"/>
                </a:highlight>
                <a:latin typeface="Courier New"/>
                <a:ea typeface="Courier New"/>
                <a:cs typeface="Courier New"/>
                <a:sym typeface="Courier New"/>
              </a:rPr>
            </a:br>
            <a:r>
              <a:rPr lang="es" sz="900">
                <a:solidFill>
                  <a:srgbClr val="212121"/>
                </a:solidFill>
                <a:highlight>
                  <a:srgbClr val="FFFFFF"/>
                </a:highlight>
                <a:latin typeface="Courier New"/>
                <a:ea typeface="Courier New"/>
                <a:cs typeface="Courier New"/>
                <a:sym typeface="Courier New"/>
              </a:rPr>
              <a:t>	P = 0.0559 with an accepting standard of 1/117</a:t>
            </a:r>
            <a:endParaRPr sz="900">
              <a:solidFill>
                <a:srgbClr val="212121"/>
              </a:solidFill>
              <a:highlight>
                <a:srgbClr val="FFFFFF"/>
              </a:highlight>
              <a:latin typeface="Courier New"/>
              <a:ea typeface="Courier New"/>
              <a:cs typeface="Courier New"/>
              <a:sym typeface="Courier New"/>
            </a:endParaRPr>
          </a:p>
          <a:p>
            <a:pPr marL="457200" lvl="0" indent="-314064" algn="l" rtl="0">
              <a:lnSpc>
                <a:spcPct val="95000"/>
              </a:lnSpc>
              <a:spcBef>
                <a:spcPts val="1200"/>
              </a:spcBef>
              <a:spcAft>
                <a:spcPts val="0"/>
              </a:spcAft>
              <a:buClr>
                <a:schemeClr val="dk1"/>
              </a:buClr>
              <a:buSzPts val="1346"/>
              <a:buChar char="●"/>
            </a:pPr>
            <a:r>
              <a:rPr lang="es" sz="1345" b="1">
                <a:solidFill>
                  <a:schemeClr val="dk1"/>
                </a:solidFill>
              </a:rPr>
              <a:t>Result:</a:t>
            </a:r>
            <a:r>
              <a:rPr lang="es" sz="1345">
                <a:solidFill>
                  <a:schemeClr val="dk1"/>
                </a:solidFill>
              </a:rPr>
              <a:t> Supports the argument that BTC can diversify stock market risk.</a:t>
            </a:r>
            <a:endParaRPr sz="1345">
              <a:solidFill>
                <a:schemeClr val="dk1"/>
              </a:solidFill>
            </a:endParaRPr>
          </a:p>
          <a:p>
            <a:pPr marL="0" lvl="0" indent="0" algn="l" rtl="0">
              <a:lnSpc>
                <a:spcPct val="95000"/>
              </a:lnSpc>
              <a:spcBef>
                <a:spcPts val="1200"/>
              </a:spcBef>
              <a:spcAft>
                <a:spcPts val="1200"/>
              </a:spcAft>
              <a:buSzPts val="523"/>
              <a:buNone/>
            </a:pPr>
            <a:endParaRPr sz="1155"/>
          </a:p>
        </p:txBody>
      </p:sp>
      <p:sp>
        <p:nvSpPr>
          <p:cNvPr id="104" name="Google Shape;104;p19"/>
          <p:cNvSpPr txBox="1"/>
          <p:nvPr/>
        </p:nvSpPr>
        <p:spPr>
          <a:xfrm>
            <a:off x="6970575" y="930400"/>
            <a:ext cx="1685100" cy="4056900"/>
          </a:xfrm>
          <a:prstGeom prst="rect">
            <a:avLst/>
          </a:prstGeom>
          <a:noFill/>
          <a:ln>
            <a:noFill/>
          </a:ln>
        </p:spPr>
        <p:txBody>
          <a:bodyPr spcFirstLastPara="1" wrap="square" lIns="91425" tIns="91425" rIns="91425" bIns="91425" anchor="t" anchorCtr="0">
            <a:noAutofit/>
          </a:bodyPr>
          <a:lstStyle/>
          <a:p>
            <a:pPr marL="0" lvl="0" indent="0" algn="l" rtl="0">
              <a:lnSpc>
                <a:spcPct val="95000"/>
              </a:lnSpc>
              <a:spcBef>
                <a:spcPts val="0"/>
              </a:spcBef>
              <a:spcAft>
                <a:spcPts val="0"/>
              </a:spcAft>
              <a:buClr>
                <a:schemeClr val="dk1"/>
              </a:buClr>
              <a:buSzPts val="523"/>
              <a:buFont typeface="Arial"/>
              <a:buNone/>
            </a:pPr>
            <a:r>
              <a:rPr lang="es" sz="1345" b="1">
                <a:solidFill>
                  <a:schemeClr val="dk1"/>
                </a:solidFill>
                <a:latin typeface="Average"/>
                <a:ea typeface="Average"/>
                <a:cs typeface="Average"/>
                <a:sym typeface="Average"/>
              </a:rPr>
              <a:t>Conclusion:</a:t>
            </a:r>
            <a:endParaRPr sz="1345" b="1">
              <a:solidFill>
                <a:schemeClr val="dk1"/>
              </a:solidFill>
              <a:latin typeface="Average"/>
              <a:ea typeface="Average"/>
              <a:cs typeface="Average"/>
              <a:sym typeface="Average"/>
            </a:endParaRPr>
          </a:p>
          <a:p>
            <a:pPr marL="457200" lvl="0" indent="-314064" algn="l" rtl="0">
              <a:lnSpc>
                <a:spcPct val="95000"/>
              </a:lnSpc>
              <a:spcBef>
                <a:spcPts val="1200"/>
              </a:spcBef>
              <a:spcAft>
                <a:spcPts val="0"/>
              </a:spcAft>
              <a:buClr>
                <a:schemeClr val="dk1"/>
              </a:buClr>
              <a:buSzPts val="1346"/>
              <a:buFont typeface="Average"/>
              <a:buChar char="●"/>
            </a:pPr>
            <a:r>
              <a:rPr lang="es" sz="1345">
                <a:solidFill>
                  <a:schemeClr val="dk1"/>
                </a:solidFill>
                <a:latin typeface="Average"/>
                <a:ea typeface="Average"/>
                <a:cs typeface="Average"/>
                <a:sym typeface="Average"/>
              </a:rPr>
              <a:t>While BTC </a:t>
            </a:r>
            <a:r>
              <a:rPr lang="es" sz="1345" b="1">
                <a:solidFill>
                  <a:schemeClr val="dk1"/>
                </a:solidFill>
                <a:latin typeface="Average"/>
                <a:ea typeface="Average"/>
                <a:cs typeface="Average"/>
                <a:sym typeface="Average"/>
              </a:rPr>
              <a:t>is not an inflation hedge</a:t>
            </a:r>
            <a:r>
              <a:rPr lang="es" sz="1345">
                <a:solidFill>
                  <a:schemeClr val="dk1"/>
                </a:solidFill>
                <a:latin typeface="Average"/>
                <a:ea typeface="Average"/>
                <a:cs typeface="Average"/>
                <a:sym typeface="Average"/>
              </a:rPr>
              <a:t>, it </a:t>
            </a:r>
            <a:r>
              <a:rPr lang="es" sz="1345" b="1">
                <a:solidFill>
                  <a:schemeClr val="dk1"/>
                </a:solidFill>
                <a:latin typeface="Average"/>
                <a:ea typeface="Average"/>
                <a:cs typeface="Average"/>
                <a:sym typeface="Average"/>
              </a:rPr>
              <a:t>provides potential diversification benefits.</a:t>
            </a:r>
            <a:endParaRPr sz="1345" b="1">
              <a:solidFill>
                <a:schemeClr val="dk1"/>
              </a:solidFill>
              <a:latin typeface="Average"/>
              <a:ea typeface="Average"/>
              <a:cs typeface="Average"/>
              <a:sym typeface="Average"/>
            </a:endParaRPr>
          </a:p>
          <a:p>
            <a:pPr marL="457200" lvl="0" indent="-314064" algn="l" rtl="0">
              <a:lnSpc>
                <a:spcPct val="95000"/>
              </a:lnSpc>
              <a:spcBef>
                <a:spcPts val="0"/>
              </a:spcBef>
              <a:spcAft>
                <a:spcPts val="0"/>
              </a:spcAft>
              <a:buClr>
                <a:schemeClr val="dk1"/>
              </a:buClr>
              <a:buSzPts val="1346"/>
              <a:buFont typeface="Average"/>
              <a:buChar char="●"/>
            </a:pPr>
            <a:r>
              <a:rPr lang="es" sz="1345">
                <a:solidFill>
                  <a:schemeClr val="dk1"/>
                </a:solidFill>
                <a:latin typeface="Average"/>
                <a:ea typeface="Average"/>
                <a:cs typeface="Average"/>
                <a:sym typeface="Average"/>
              </a:rPr>
              <a:t>Investors </a:t>
            </a:r>
            <a:r>
              <a:rPr lang="es" sz="1345" b="1">
                <a:solidFill>
                  <a:schemeClr val="dk1"/>
                </a:solidFill>
                <a:latin typeface="Average"/>
                <a:ea typeface="Average"/>
                <a:cs typeface="Average"/>
                <a:sym typeface="Average"/>
              </a:rPr>
              <a:t>must consider BTC’s high volatility</a:t>
            </a:r>
            <a:r>
              <a:rPr lang="es" sz="1345">
                <a:solidFill>
                  <a:schemeClr val="dk1"/>
                </a:solidFill>
                <a:latin typeface="Average"/>
                <a:ea typeface="Average"/>
                <a:cs typeface="Average"/>
                <a:sym typeface="Average"/>
              </a:rPr>
              <a:t> and risk-return profile in their strategy.</a:t>
            </a:r>
            <a:endParaRPr sz="1800">
              <a:solidFill>
                <a:schemeClr val="accent3"/>
              </a:solidFill>
              <a:latin typeface="Average"/>
              <a:ea typeface="Average"/>
              <a:cs typeface="Average"/>
              <a:sym typeface="Averag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s"/>
              <a:t>Conclusions</a:t>
            </a:r>
            <a:endParaRPr/>
          </a:p>
        </p:txBody>
      </p:sp>
      <p:sp>
        <p:nvSpPr>
          <p:cNvPr id="110" name="Google Shape;110;p20"/>
          <p:cNvSpPr txBox="1">
            <a:spLocks noGrp="1"/>
          </p:cNvSpPr>
          <p:nvPr>
            <p:ph type="body" idx="1"/>
          </p:nvPr>
        </p:nvSpPr>
        <p:spPr>
          <a:xfrm>
            <a:off x="311700" y="1152475"/>
            <a:ext cx="8520600" cy="2694000"/>
          </a:xfrm>
          <a:prstGeom prst="rect">
            <a:avLst/>
          </a:prstGeom>
        </p:spPr>
        <p:txBody>
          <a:bodyPr spcFirstLastPara="1" wrap="square" lIns="91425" tIns="91425" rIns="91425" bIns="91425" anchor="t" anchorCtr="0">
            <a:normAutofit lnSpcReduction="10000"/>
          </a:bodyPr>
          <a:lstStyle/>
          <a:p>
            <a:pPr marL="457200" lvl="0" indent="-355600" algn="l" rtl="0">
              <a:spcBef>
                <a:spcPts val="0"/>
              </a:spcBef>
              <a:spcAft>
                <a:spcPts val="0"/>
              </a:spcAft>
              <a:buSzPts val="2000"/>
              <a:buChar char="●"/>
            </a:pPr>
            <a:r>
              <a:rPr lang="es" sz="2000"/>
              <a:t>BTC exhibits high volatility and extreme return potential but does not act as a hedge against U.S. inflation.</a:t>
            </a:r>
            <a:endParaRPr sz="2000"/>
          </a:p>
          <a:p>
            <a:pPr marL="457200" lvl="0" indent="-355600" algn="l" rtl="0">
              <a:spcBef>
                <a:spcPts val="0"/>
              </a:spcBef>
              <a:spcAft>
                <a:spcPts val="0"/>
              </a:spcAft>
              <a:buSzPts val="2000"/>
              <a:buChar char="●"/>
            </a:pPr>
            <a:r>
              <a:rPr lang="es" sz="2000"/>
              <a:t>Optimized portfolios outperform equally-weighted ones by balancing risk and return more effectively.</a:t>
            </a:r>
            <a:endParaRPr sz="2000"/>
          </a:p>
          <a:p>
            <a:pPr marL="457200" lvl="0" indent="-355600" algn="l" rtl="0">
              <a:spcBef>
                <a:spcPts val="0"/>
              </a:spcBef>
              <a:spcAft>
                <a:spcPts val="0"/>
              </a:spcAft>
              <a:buSzPts val="2000"/>
              <a:buChar char="●"/>
            </a:pPr>
            <a:r>
              <a:rPr lang="es" sz="2000"/>
              <a:t>Bitcoin serves as a diversifier, reducing stock market risk, but its role depends on market conditions and investor risk tolerance.</a:t>
            </a:r>
            <a:endParaRPr sz="2000"/>
          </a:p>
          <a:p>
            <a:pPr marL="0" lvl="0" indent="0" algn="l" rtl="0">
              <a:spcBef>
                <a:spcPts val="1200"/>
              </a:spcBef>
              <a:spcAft>
                <a:spcPts val="1200"/>
              </a:spcAft>
              <a:buNone/>
            </a:pPr>
            <a:endParaRPr/>
          </a:p>
        </p:txBody>
      </p:sp>
    </p:spTree>
  </p:cSld>
  <p:clrMapOvr>
    <a:masterClrMapping/>
  </p:clrMapOvr>
</p:sld>
</file>

<file path=ppt/theme/theme1.xml><?xml version="1.0" encoding="utf-8"?>
<a:theme xmlns:a="http://schemas.openxmlformats.org/drawingml/2006/main"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582</Words>
  <Application>Microsoft Macintosh PowerPoint</Application>
  <PresentationFormat>Presentazione su schermo (16:9)</PresentationFormat>
  <Paragraphs>70</Paragraphs>
  <Slides>8</Slides>
  <Notes>8</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8</vt:i4>
      </vt:variant>
    </vt:vector>
  </HeadingPairs>
  <TitlesOfParts>
    <vt:vector size="14" baseType="lpstr">
      <vt:lpstr>Courier New</vt:lpstr>
      <vt:lpstr>Oswald</vt:lpstr>
      <vt:lpstr>Average</vt:lpstr>
      <vt:lpstr>Roboto</vt:lpstr>
      <vt:lpstr>Arial</vt:lpstr>
      <vt:lpstr>Slate</vt:lpstr>
      <vt:lpstr>Analysis of Portfolios and Diversification with Bitcoin</vt:lpstr>
      <vt:lpstr>Introduction and objectives</vt:lpstr>
      <vt:lpstr>BTC Excess Monthly Returns &amp; Inflation Hedge </vt:lpstr>
      <vt:lpstr>3-Portfolios</vt:lpstr>
      <vt:lpstr>Portfolios &amp; The Efficient Frontier</vt:lpstr>
      <vt:lpstr>Equally-Weighted Portfolio &amp; Performance</vt:lpstr>
      <vt:lpstr>4-BTC as a Stock Market Risk Diversifier</vt:lpstr>
      <vt:lpstr>Conclusions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Edoardo Anfelli</cp:lastModifiedBy>
  <cp:revision>1</cp:revision>
  <dcterms:modified xsi:type="dcterms:W3CDTF">2024-09-19T22:03:05Z</dcterms:modified>
</cp:coreProperties>
</file>